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Dạ em chào anh chị. Hôm nay em trình bày về UrBox Meeting Copilot, trợ lý AI dùng trong các cuộc họp của UrBox. Trong khoảng mười tám phút, em đi qua sáu nội dung: điểm khác biệt so với các công cụ ghi chú họp đang có; cách dùng tài liệu của nhóm và ứng dụng WikiBox; cách trợ lý lấy dữ liệu từ WikiBox; cách giúp DH và LM quản lý cuộc họp của các thành viên; chi phí bot Recall.ai; và cách lưu trữ dữ liệu cả trong lúc họp lẫn sau buổi họp. Cuối buổi em có đề xuất triển khai và các việc cần anh chị quyết định.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sáu điểm chính. Một, Meeting Copilot hỗ trợ ngay trong lúc họp bằng dữ liệu của UrBox, không chỉ ghi chép sau buổi. Hai, tri thức đến từ hai nguồn tách rời: tài liệu riêng của nhóm tải lên Copilot, và ứng dụng WikiBox của công ty. Ba, trợ lý tra được WikiBox ngay trong buổi, có nguồn. Bốn, DH và LM nắm được cuộc họp của cả nhóm. Năm, bot Recall.ai là dịch vụ tính phí, khoảng nửa đô la mỗi giờ, một bot cho cả cuộc họp. Sáu, dữ liệu được lưu ngay khi nói và có biên bản trên Google Drive sau buổi họp.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công cụ như Gemini trong Google Meet, Otter hay Fireflies đã làm tốt phần chép lời và tóm tắt sau buổi họp. Meeting Copilot khác ở sáu điểm. Thứ nhất, khi khách hỏi, đội BD có gợi ý trả lời sau bốn đến tám giây, lấy từ tài liệu nhóm, các buổi họp trước và WikiBox, có dấu nguồn. Thứ hai, trợ lý nghe tiếng Việt: chỉ cần gọi "UrBox ơi" là tra cứu, tóm tắt, soạn slide, sơ đồ ngay trên màn hình họp. Thứ ba, hệ thống biết ai đang nói nhờ mẫu giọng dùng chung của công ty, kể cả khi họp trực tiếp; đo trên hai cuộc họp thật nội bộ, đúng chín mươi bảy và chín mươi tám phần trăm số câu. Thứ tư, biên bản tự nhắc khi buổi này nói khác điều đã chốt. Thứ năm, họp kết hợp trong phòng và online, nhiều người cùng dùng Copilot chỉ cần một bot. Thứ sáu, quản lý theo nhóm, dữ liệu nằm trên hạ tầng của UrBox. Em không khẳng định công cụ khác không có từng phần; điểm mạnh là gộp tất cả trên dữ liệu và quy trình của UrBox.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một ví dụ cụ thể. Khách hỏi: phí tích hợp API bao nhiêu, có khác lần trước không. Chỉ bốn đến tám giây sau, trên Bảng BD mở ở máy của đội mình đã có gợi ý: năm triệu đồng, thu một lần, lấy từ bảng giá của nhóm, dấu K1. Trợ lý còn ghi chú: buổi ngày hai tháng mười đội mình đã báo bốn triệu, nên giải thích phần chênh lệch, dấu M1. Mỗi ý đều có dấu nguồn: K là tài liệu nhóm, M là cuộc họp trước, U là WikiBox, W là thông tin trên mạng khi đội bấm tra thêm. Bảng này không chiếu lên màn hình chung và trợ lý không đọc thành tiếng, nên khách không thấy.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tài liệu, Copilot dùng hai nguồn và hai nơi quản lý riêng. Bên trái là tài liệu của nhóm: chủ nhóm tải lên bảng giá, hồ sơ năng lực, FAQ, JD; hệ thống chỉ giữ phần chữ, không giữ tệp gốc. Bên phải là WikiBox, một ứng dụng riêng của công ty tại wiki.urbox.dev. Copilot không chứa WikiBox mà kết nối vào: mỗi người tự kết nối tài khoản WikiBox của mình, chỉ đọc, đúng quyền xem. Nguyên tắc chọn nơi để tài liệu: cái gì riêng của nhóm hay của một khách thì để ở tài liệu nhóm; cái gì chung cả công ty, cần một bản chuẩn, thì để trên WikiBox và không tải bản sao vào Copilot.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nguyên tắc thiết kế quan trọng nhất: WikiBox là ứng dụng hỗ trợ, không gộp vào Meeting Copilot. Hai bên độc lập, nối qua một cổng MCP chỉ đọc. Một, Copilot chỉ đọc, không thêm sửa xóa gì trên WikiBox và không ghi dữ liệu họp sang đó. Hai, không sao chép: hỏi lúc nào đọc lúc đó, nên luôn là bản mới nhất. Ba, mỗi nguồn một dấu riêng để người nghe biết thông tin từ đâu. Bốn, khi hai nguồn nói khác nhau: giá và điều khoản riêng cho khách theo tài liệu nhóm, kiến thức chung theo WikiBox, chỗ khác nhau được ghi cho đội. Năm, tách được: WikiBox chậm quá tám giây hay ngắt kết nối thì Copilot vẫn chạy bằng các nguồn còn lại. Nhờ vậy nội dung hai bên không chồng chéo.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Lấy dữ liệu từ WikiBox trong buổi họp gồm bốn bước. Người họp hỏi bằng giọng nói, ví dụ "UrBox ơi, quy trình đổi voucher hết hạn thế nào?", hoặc khách hỏi và Bảng BD tự nhận ra. Máy chủ Copilot tìm trên WikiBox bằng tài khoản của người tạo cuộc họp, song song với tài liệu nhóm và các buổi trước. AI chỉ dùng các đoạn tìm được và gắn dấu U1, U2. Bấm U1 là mở đúng tài liệu gốc trên WikiBox. Kết nối chỉ làm một lần trong Cài đặt: đăng nhập WikiBox bằng tài khoản Google công ty, hoặc dán API key. Về trạng thái: WikiBox đã cho Copilot đăng nhập trực tiếp; cần chạy thử với tài liệu thật.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DH và LM, mục tiêu là nắm được cuộc họp của cả nhóm mà không phải dự từng buổi. DH hoặc LM làm chủ nhóm theo phòng ban hay dự án; các buổi họp định kỳ trên lịch tự vào đúng nhóm. Biên bản theo một mẫu chuẩn của nhóm, luôn có quyết định, việc cần làm, người phụ trách và hạn chót. Biên bản tự nhắc khi buổi này nói khác điều đã chốt trước đó. Chủ nhóm hỏi trên mọi cuộc họp, ví dụ "tuần này nhóm đã hứa gì với khách", và nhận báo cáo có nguồn từng buổi; hiện tính năng này cần bật chế độ BD của nhóm. Mọi biên bản tự lưu vào thư mục Drive của nhóm và tự chia sẻ cho thành viên.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phân quyền, nguyên tắc là nhóm thì chia sẻ, cá nhân thì riêng. Chủ nhóm, tức DH hoặc LM, xem và quản lý cuộc họp, tài liệu, mẫu biên bản của nhóm. Thành viên xem được mọi cuộc họp và biên bản của nhóm, dùng mẫu biên bản chung. Người ngoài nhóm không xem được gì. Cuộc họp cá nhân của mỗi người chỉ người đó xem; DH, LM chỉ thấy khi cuộc họp được đưa vào nhóm. Khi nhiều người cùng dùng Copilot trong một cuộc họp Google Meet, mỗi người có cuộc họp riêng và biên bản vào Drive của mình; cuộc họp thuộc nhóm thì dùng chung một biên bản trong thư mục của chủ nhóm.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 Google Meet dùng Recall.ai, một dịch vụ bên ngoài có tính phí. Bot được hẹn theo lịch hoặc bằng link, xin vào như khách, chép lời từng người đúng tên trong Meet, và tự rời sau sáu mươi giây khi mọi người rời; bản ghi trên Recall bị xóa ngay. Chi phí theo trang giá của Recall là nửa đô la mỗi giờ bot ở trong cuộc họp, tính theo giây, khoảng mười hai nghìn năm trăm đồng. Ví dụ tám mươi giờ họp có bot mỗi tháng là khoảng bốn mươi đô la, tức khoảng một triệu đồng. Nhiều người dùng Copilot trong cùng cuộc họp vẫn chỉ một bot. Họp trực tiếp thì dùng mic trình duyệt, không cần bot. Lưu ý hiện trạng: tài khoản Recall của công ty hết credit từ mười ba tháng mười, cần nạp để bot hoạt động lại.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Lưu trữ có hai lớp. Trong lúc họp, mỗi câu được lưu ngay vào MongoDB Atlas của UrBox khi vừa nói xong, không chờ hết buổi; tên người nói cập nhật liền; rớt mạng thì tự nối lại và phát lại phần âm thanh vừa lỡ. Sau buổi họp, biên bản tự lập theo mẫu và lưu lên Google Drive: cuộc họp nhóm vào thư mục của chủ nhóm, cuộc họp cá nhân vào Drive của mình; tải được bản Word, ghi âm, và tự lưu về thư mục trên máy. Ghi âm chỉ bật khi mọi người đồng ý và tự xóa sau ba mươi ngày; giọng nói chỉ lưu dạng vector số, không lưu âm thanh mẫu.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đề xuất năm việc. Một, nạp credit Recall.ai, ngân sách tham khảo khoảng một triệu đồng cho tám mươi giờ họp có bot mỗi tháng, cần phòng Tài chính xác nhận. Hai, mỗi người kết nối WikiBox một lần trong Cài đặt, đăng nhập bằng tài khoản Google công ty, và chạy thử với tài liệu thật. Ba, mỗi phòng ban tạo một nhóm, DH hoặc LM làm chủ nhóm, chọn mẫu biên bản và tải tài liệu riêng. Bốn, thí điểm hai tuần với hai, ba phòng ban, đo số cuộc họp, thời gian có biên bản và số gợi ý dùng được. Năm, đội phát triển mở tính năng hỏi trên mọi cuộc họp cho mọi nhóm.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cảm ơn anh chị đã lắng nghe, em xin nhận câu hỏi. Ứng dụng chạy tại địa chỉ trên màn hình, đăng nhập bằng tài khoản @urbox.vn. Hướng dẫn chi tiết ở mục 10.6 cho bot Google Meet dùng chung và mục 13.4 cho WikiBox.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0.png"/><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9.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10.png"/><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image" Target="../media/image21.png"/><Relationship Id="rId8" Type="http://schemas.openxmlformats.org/officeDocument/2006/relationships/image" Target="../media/image10.png"/><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10.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cover-bg.jpg"/>
          <p:cNvPicPr>
            <a:picLocks noChangeAspect="1"/>
          </p:cNvPicPr>
          <p:nvPr/>
        </p:nvPicPr>
        <p:blipFill>
          <a:blip r:embed="rId2"/>
          <a:stretch>
            <a:fillRect/>
          </a:stretch>
        </p:blipFill>
        <p:spPr>
          <a:xfrm>
            <a:off x="0" y="0"/>
            <a:ext cx="12191695" cy="6858000"/>
          </a:xfrm>
          <a:prstGeom prst="rect">
            <a:avLst/>
          </a:prstGeom>
        </p:spPr>
      </p:pic>
      <p:pic>
        <p:nvPicPr>
          <p:cNvPr id="3" name="logo" descr="logo-white.png"/>
          <p:cNvPicPr>
            <a:picLocks noChangeAspect="1"/>
          </p:cNvPicPr>
          <p:nvPr/>
        </p:nvPicPr>
        <p:blipFill>
          <a:blip r:embed="rId3"/>
          <a:stretch>
            <a:fillRect/>
          </a:stretch>
        </p:blipFill>
        <p:spPr>
          <a:xfrm>
            <a:off x="731520" y="548640"/>
            <a:ext cx="1188720" cy="332841"/>
          </a:xfrm>
          <a:prstGeom prst="rect">
            <a:avLst/>
          </a:prstGeom>
        </p:spPr>
      </p:pic>
      <p:sp>
        <p:nvSpPr>
          <p:cNvPr id="4" name="pill"/>
          <p:cNvSpPr/>
          <p:nvPr/>
        </p:nvSpPr>
        <p:spPr>
          <a:xfrm>
            <a:off x="731520" y="1325880"/>
            <a:ext cx="3246120" cy="384048"/>
          </a:xfrm>
          <a:prstGeom prst="roundRect">
            <a:avLst>
              <a:gd name="adj" fmla="val 50000"/>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300" b="1">
                <a:solidFill>
                  <a:srgbClr val="1F1B2E"/>
                </a:solidFill>
                <a:latin typeface="Be Vietnam Pro"/>
              </a:rPr>
              <a:t>Trình bày nội bộ · 19/10/2026</a:t>
            </a:r>
          </a:p>
        </p:txBody>
      </p:sp>
      <p:sp>
        <p:nvSpPr>
          <p:cNvPr id="5" name="title"/>
          <p:cNvSpPr txBox="1"/>
          <p:nvPr/>
        </p:nvSpPr>
        <p:spPr>
          <a:xfrm>
            <a:off x="731520" y="1901952"/>
            <a:ext cx="7498079" cy="868680"/>
          </a:xfrm>
          <a:prstGeom prst="rect">
            <a:avLst/>
          </a:prstGeom>
          <a:noFill/>
        </p:spPr>
        <p:txBody>
          <a:bodyPr wrap="square" lIns="0" rIns="0" tIns="0" bIns="0" anchor="t">
            <a:noAutofit/>
          </a:bodyPr>
          <a:lstStyle/>
          <a:p>
            <a:pPr algn="l">
              <a:lnSpc>
                <a:spcPct val="100000"/>
              </a:lnSpc>
              <a:spcAft>
                <a:spcPts val="0"/>
              </a:spcAft>
            </a:pPr>
            <a:r>
              <a:rPr sz="4400" b="1">
                <a:solidFill>
                  <a:srgbClr val="FFFFFF"/>
                </a:solidFill>
                <a:latin typeface="Be Vietnam Pro"/>
              </a:rPr>
              <a:t>UrBox Meeting Copilot</a:t>
            </a:r>
          </a:p>
        </p:txBody>
      </p:sp>
      <p:sp>
        <p:nvSpPr>
          <p:cNvPr id="6" name="subtitle"/>
          <p:cNvSpPr txBox="1"/>
          <p:nvPr/>
        </p:nvSpPr>
        <p:spPr>
          <a:xfrm>
            <a:off x="731520" y="2926080"/>
            <a:ext cx="6583680" cy="1325880"/>
          </a:xfrm>
          <a:prstGeom prst="rect">
            <a:avLst/>
          </a:prstGeom>
          <a:noFill/>
        </p:spPr>
        <p:txBody>
          <a:bodyPr wrap="square" lIns="0" rIns="0" tIns="0" bIns="0" anchor="t">
            <a:noAutofit/>
          </a:bodyPr>
          <a:lstStyle/>
          <a:p>
            <a:pPr algn="l">
              <a:lnSpc>
                <a:spcPct val="115000"/>
              </a:lnSpc>
              <a:spcAft>
                <a:spcPts val="0"/>
              </a:spcAft>
            </a:pPr>
            <a:r>
              <a:rPr sz="2000" b="0">
                <a:solidFill>
                  <a:srgbClr val="E9DDFB"/>
                </a:solidFill>
                <a:latin typeface="Be Vietnam Pro"/>
              </a:rPr>
              <a:t>Trợ lý AI trong cuộc họp: hỗ trợ ngay lúc họp, lưu trữ cả realtime lẫn sau buổi họp, dùng ứng dụng WikiBox làm kho tri thức</a:t>
            </a:r>
          </a:p>
        </p:txBody>
      </p:sp>
      <p:sp>
        <p:nvSpPr>
          <p:cNvPr id="7" name="audience"/>
          <p:cNvSpPr txBox="1"/>
          <p:nvPr/>
        </p:nvSpPr>
        <p:spPr>
          <a:xfrm>
            <a:off x="731520" y="4526280"/>
            <a:ext cx="6583680" cy="365760"/>
          </a:xfrm>
          <a:prstGeom prst="rect">
            <a:avLst/>
          </a:prstGeom>
          <a:noFill/>
        </p:spPr>
        <p:txBody>
          <a:bodyPr wrap="square" lIns="0" rIns="0" tIns="0" bIns="0" anchor="t">
            <a:noAutofit/>
          </a:bodyPr>
          <a:lstStyle/>
          <a:p>
            <a:pPr algn="l">
              <a:lnSpc>
                <a:spcPct val="110000"/>
              </a:lnSpc>
              <a:spcAft>
                <a:spcPts val="0"/>
              </a:spcAft>
            </a:pPr>
            <a:r>
              <a:rPr sz="1500" b="1">
                <a:solidFill>
                  <a:srgbClr val="FFFFFF"/>
                </a:solidFill>
                <a:latin typeface="Be Vietnam Pro"/>
              </a:rPr>
              <a:t>Dành cho DH/LM và các phòng ban của UrBox</a:t>
            </a:r>
          </a:p>
        </p:txBody>
      </p:sp>
      <p:sp>
        <p:nvSpPr>
          <p:cNvPr id="8" name="owner"/>
          <p:cNvSpPr txBox="1"/>
          <p:nvPr/>
        </p:nvSpPr>
        <p:spPr>
          <a:xfrm>
            <a:off x="731520" y="5897880"/>
            <a:ext cx="6583680" cy="365760"/>
          </a:xfrm>
          <a:prstGeom prst="rect">
            <a:avLst/>
          </a:prstGeom>
          <a:noFill/>
        </p:spPr>
        <p:txBody>
          <a:bodyPr wrap="square" lIns="0" rIns="0" tIns="0" bIns="0" anchor="t">
            <a:noAutofit/>
          </a:bodyPr>
          <a:lstStyle/>
          <a:p>
            <a:pPr algn="l">
              <a:lnSpc>
                <a:spcPct val="110000"/>
              </a:lnSpc>
              <a:spcAft>
                <a:spcPts val="0"/>
              </a:spcAft>
            </a:pPr>
            <a:r>
              <a:rPr sz="1300" b="0">
                <a:solidFill>
                  <a:srgbClr val="E9DDFB"/>
                </a:solidFill>
                <a:latin typeface="Be Vietnam Pro"/>
              </a:rPr>
              <a:t>Phụ trách: phuc.bh@urbox.vn · Bản 3.21</a:t>
            </a:r>
          </a:p>
        </p:txBody>
      </p:sp>
      <p:sp>
        <p:nvSpPr>
          <p:cNvPr id="9" name="halo"/>
          <p:cNvSpPr/>
          <p:nvPr/>
        </p:nvSpPr>
        <p:spPr>
          <a:xfrm>
            <a:off x="8001000" y="1234440"/>
            <a:ext cx="3566160" cy="3566160"/>
          </a:xfrm>
          <a:prstGeom prst="ellipse">
            <a:avLst/>
          </a:prstGeom>
          <a:solidFill>
            <a:srgbClr val="7A3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mascot" descr="mascot.png"/>
          <p:cNvPicPr>
            <a:picLocks noChangeAspect="1"/>
          </p:cNvPicPr>
          <p:nvPr/>
        </p:nvPicPr>
        <p:blipFill>
          <a:blip r:embed="rId4"/>
          <a:stretch>
            <a:fillRect/>
          </a:stretch>
        </p:blipFill>
        <p:spPr>
          <a:xfrm>
            <a:off x="8458200" y="1691640"/>
            <a:ext cx="2651760" cy="25877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1011326"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Tóm tắt</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Sáu điểm chính của Meeting Copilot</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Mỗi điểm có slide riêng phía sau, số trên thẻ là thứ tự trình bày</a:t>
            </a:r>
          </a:p>
        </p:txBody>
      </p:sp>
      <p:sp>
        <p:nvSpPr>
          <p:cNvPr id="5" name="card"/>
          <p:cNvSpPr/>
          <p:nvPr/>
        </p:nvSpPr>
        <p:spPr>
          <a:xfrm>
            <a:off x="548640" y="2103120"/>
            <a:ext cx="3515258" cy="1901952"/>
          </a:xfrm>
          <a:prstGeom prst="roundRect">
            <a:avLst>
              <a:gd name="adj" fmla="val 9615"/>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adge"/>
          <p:cNvSpPr/>
          <p:nvPr/>
        </p:nvSpPr>
        <p:spPr>
          <a:xfrm>
            <a:off x="822959" y="2359152"/>
            <a:ext cx="420624" cy="420624"/>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1</a:t>
            </a:r>
          </a:p>
        </p:txBody>
      </p:sp>
      <p:sp>
        <p:nvSpPr>
          <p:cNvPr id="7" name="tile"/>
          <p:cNvSpPr/>
          <p:nvPr/>
        </p:nvSpPr>
        <p:spPr>
          <a:xfrm>
            <a:off x="3240938" y="2304288"/>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icon" descr="ic-spark-p.png"/>
          <p:cNvPicPr>
            <a:picLocks noChangeAspect="1"/>
          </p:cNvPicPr>
          <p:nvPr/>
        </p:nvPicPr>
        <p:blipFill>
          <a:blip r:embed="rId2"/>
          <a:stretch>
            <a:fillRect/>
          </a:stretch>
        </p:blipFill>
        <p:spPr>
          <a:xfrm>
            <a:off x="3361639" y="2424988"/>
            <a:ext cx="307238" cy="307238"/>
          </a:xfrm>
          <a:prstGeom prst="rect">
            <a:avLst/>
          </a:prstGeom>
        </p:spPr>
      </p:pic>
      <p:sp>
        <p:nvSpPr>
          <p:cNvPr id="9" name="card-head"/>
          <p:cNvSpPr txBox="1"/>
          <p:nvPr/>
        </p:nvSpPr>
        <p:spPr>
          <a:xfrm>
            <a:off x="822959" y="2926079"/>
            <a:ext cx="2966618" cy="384048"/>
          </a:xfrm>
          <a:prstGeom prst="rect">
            <a:avLst/>
          </a:prstGeom>
          <a:noFill/>
        </p:spPr>
        <p:txBody>
          <a:bodyPr wrap="square" lIns="0" rIns="0" tIns="0" bIns="0" anchor="t">
            <a:noAutofit/>
          </a:bodyPr>
          <a:lstStyle/>
          <a:p>
            <a:pPr algn="l">
              <a:lnSpc>
                <a:spcPct val="110000"/>
              </a:lnSpc>
              <a:spcAft>
                <a:spcPts val="0"/>
              </a:spcAft>
            </a:pPr>
            <a:r>
              <a:rPr sz="1800" b="1">
                <a:solidFill>
                  <a:srgbClr val="1F1B2E"/>
                </a:solidFill>
                <a:latin typeface="Be Vietnam Pro"/>
              </a:rPr>
              <a:t>Điểm khác biệt</a:t>
            </a:r>
          </a:p>
        </p:txBody>
      </p:sp>
      <p:sp>
        <p:nvSpPr>
          <p:cNvPr id="10" name="card-body"/>
          <p:cNvSpPr txBox="1"/>
          <p:nvPr/>
        </p:nvSpPr>
        <p:spPr>
          <a:xfrm>
            <a:off x="822959" y="3310128"/>
            <a:ext cx="2966618" cy="6400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Hỗ trợ ngay lúc họp, bằng dữ liệu của UrBox</a:t>
            </a:r>
          </a:p>
        </p:txBody>
      </p:sp>
      <p:sp>
        <p:nvSpPr>
          <p:cNvPr id="11" name="card"/>
          <p:cNvSpPr/>
          <p:nvPr/>
        </p:nvSpPr>
        <p:spPr>
          <a:xfrm>
            <a:off x="4338218" y="2103120"/>
            <a:ext cx="3515258" cy="1901952"/>
          </a:xfrm>
          <a:prstGeom prst="roundRect">
            <a:avLst>
              <a:gd name="adj" fmla="val 9615"/>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adge"/>
          <p:cNvSpPr/>
          <p:nvPr/>
        </p:nvSpPr>
        <p:spPr>
          <a:xfrm>
            <a:off x="4612538" y="2359152"/>
            <a:ext cx="420624" cy="420624"/>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2</a:t>
            </a:r>
          </a:p>
        </p:txBody>
      </p:sp>
      <p:sp>
        <p:nvSpPr>
          <p:cNvPr id="13" name="tile"/>
          <p:cNvSpPr/>
          <p:nvPr/>
        </p:nvSpPr>
        <p:spPr>
          <a:xfrm>
            <a:off x="7030516" y="2304288"/>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descr="ic-book-p.png"/>
          <p:cNvPicPr>
            <a:picLocks noChangeAspect="1"/>
          </p:cNvPicPr>
          <p:nvPr/>
        </p:nvPicPr>
        <p:blipFill>
          <a:blip r:embed="rId3"/>
          <a:stretch>
            <a:fillRect/>
          </a:stretch>
        </p:blipFill>
        <p:spPr>
          <a:xfrm>
            <a:off x="7151217" y="2424988"/>
            <a:ext cx="307238" cy="307238"/>
          </a:xfrm>
          <a:prstGeom prst="rect">
            <a:avLst/>
          </a:prstGeom>
        </p:spPr>
      </p:pic>
      <p:sp>
        <p:nvSpPr>
          <p:cNvPr id="15" name="card-head"/>
          <p:cNvSpPr txBox="1"/>
          <p:nvPr/>
        </p:nvSpPr>
        <p:spPr>
          <a:xfrm>
            <a:off x="4612538" y="2926079"/>
            <a:ext cx="2966618" cy="384048"/>
          </a:xfrm>
          <a:prstGeom prst="rect">
            <a:avLst/>
          </a:prstGeom>
          <a:noFill/>
        </p:spPr>
        <p:txBody>
          <a:bodyPr wrap="square" lIns="0" rIns="0" tIns="0" bIns="0" anchor="t">
            <a:noAutofit/>
          </a:bodyPr>
          <a:lstStyle/>
          <a:p>
            <a:pPr algn="l">
              <a:lnSpc>
                <a:spcPct val="110000"/>
              </a:lnSpc>
              <a:spcAft>
                <a:spcPts val="0"/>
              </a:spcAft>
            </a:pPr>
            <a:r>
              <a:rPr sz="1800" b="1">
                <a:solidFill>
                  <a:srgbClr val="1F1B2E"/>
                </a:solidFill>
                <a:latin typeface="Be Vietnam Pro"/>
              </a:rPr>
              <a:t>Tài liệu nhóm và WikiBox</a:t>
            </a:r>
          </a:p>
        </p:txBody>
      </p:sp>
      <p:sp>
        <p:nvSpPr>
          <p:cNvPr id="16" name="card-body"/>
          <p:cNvSpPr txBox="1"/>
          <p:nvPr/>
        </p:nvSpPr>
        <p:spPr>
          <a:xfrm>
            <a:off x="4612538" y="3310128"/>
            <a:ext cx="2966618" cy="6400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Hai nguồn tách rời, mỗi nguồn một dấu riêng</a:t>
            </a:r>
          </a:p>
        </p:txBody>
      </p:sp>
      <p:sp>
        <p:nvSpPr>
          <p:cNvPr id="17" name="card"/>
          <p:cNvSpPr/>
          <p:nvPr/>
        </p:nvSpPr>
        <p:spPr>
          <a:xfrm>
            <a:off x="8127796" y="2103120"/>
            <a:ext cx="3515258" cy="1901952"/>
          </a:xfrm>
          <a:prstGeom prst="roundRect">
            <a:avLst>
              <a:gd name="adj" fmla="val 9615"/>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adge"/>
          <p:cNvSpPr/>
          <p:nvPr/>
        </p:nvSpPr>
        <p:spPr>
          <a:xfrm>
            <a:off x="8402116" y="2359152"/>
            <a:ext cx="420624" cy="420624"/>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3</a:t>
            </a:r>
          </a:p>
        </p:txBody>
      </p:sp>
      <p:sp>
        <p:nvSpPr>
          <p:cNvPr id="19" name="tile"/>
          <p:cNvSpPr/>
          <p:nvPr/>
        </p:nvSpPr>
        <p:spPr>
          <a:xfrm>
            <a:off x="10820095" y="2304288"/>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descr="ic-search-p.png"/>
          <p:cNvPicPr>
            <a:picLocks noChangeAspect="1"/>
          </p:cNvPicPr>
          <p:nvPr/>
        </p:nvPicPr>
        <p:blipFill>
          <a:blip r:embed="rId4"/>
          <a:stretch>
            <a:fillRect/>
          </a:stretch>
        </p:blipFill>
        <p:spPr>
          <a:xfrm>
            <a:off x="10940796" y="2424988"/>
            <a:ext cx="307238" cy="307238"/>
          </a:xfrm>
          <a:prstGeom prst="rect">
            <a:avLst/>
          </a:prstGeom>
        </p:spPr>
      </p:pic>
      <p:sp>
        <p:nvSpPr>
          <p:cNvPr id="21" name="card-head"/>
          <p:cNvSpPr txBox="1"/>
          <p:nvPr/>
        </p:nvSpPr>
        <p:spPr>
          <a:xfrm>
            <a:off x="8402116" y="2926079"/>
            <a:ext cx="2966618" cy="384048"/>
          </a:xfrm>
          <a:prstGeom prst="rect">
            <a:avLst/>
          </a:prstGeom>
          <a:noFill/>
        </p:spPr>
        <p:txBody>
          <a:bodyPr wrap="square" lIns="0" rIns="0" tIns="0" bIns="0" anchor="t">
            <a:noAutofit/>
          </a:bodyPr>
          <a:lstStyle/>
          <a:p>
            <a:pPr algn="l">
              <a:lnSpc>
                <a:spcPct val="110000"/>
              </a:lnSpc>
              <a:spcAft>
                <a:spcPts val="0"/>
              </a:spcAft>
            </a:pPr>
            <a:r>
              <a:rPr sz="1800" b="1">
                <a:solidFill>
                  <a:srgbClr val="1F1B2E"/>
                </a:solidFill>
                <a:latin typeface="Be Vietnam Pro"/>
              </a:rPr>
              <a:t>Truy cập WikiBox</a:t>
            </a:r>
          </a:p>
        </p:txBody>
      </p:sp>
      <p:sp>
        <p:nvSpPr>
          <p:cNvPr id="22" name="card-body"/>
          <p:cNvSpPr txBox="1"/>
          <p:nvPr/>
        </p:nvSpPr>
        <p:spPr>
          <a:xfrm>
            <a:off x="8402116" y="3310128"/>
            <a:ext cx="2966618" cy="6400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Tra tài liệu chính thức ngay trong buổi họp</a:t>
            </a:r>
          </a:p>
        </p:txBody>
      </p:sp>
      <p:sp>
        <p:nvSpPr>
          <p:cNvPr id="23" name="card"/>
          <p:cNvSpPr/>
          <p:nvPr/>
        </p:nvSpPr>
        <p:spPr>
          <a:xfrm>
            <a:off x="548640" y="4206240"/>
            <a:ext cx="3515258" cy="1901952"/>
          </a:xfrm>
          <a:prstGeom prst="roundRect">
            <a:avLst>
              <a:gd name="adj" fmla="val 9615"/>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badge"/>
          <p:cNvSpPr/>
          <p:nvPr/>
        </p:nvSpPr>
        <p:spPr>
          <a:xfrm>
            <a:off x="822959" y="4462272"/>
            <a:ext cx="420624" cy="420624"/>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4</a:t>
            </a:r>
          </a:p>
        </p:txBody>
      </p:sp>
      <p:sp>
        <p:nvSpPr>
          <p:cNvPr id="25" name="tile"/>
          <p:cNvSpPr/>
          <p:nvPr/>
        </p:nvSpPr>
        <p:spPr>
          <a:xfrm>
            <a:off x="3240938" y="4407407"/>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descr="ic-users-p.png"/>
          <p:cNvPicPr>
            <a:picLocks noChangeAspect="1"/>
          </p:cNvPicPr>
          <p:nvPr/>
        </p:nvPicPr>
        <p:blipFill>
          <a:blip r:embed="rId5"/>
          <a:stretch>
            <a:fillRect/>
          </a:stretch>
        </p:blipFill>
        <p:spPr>
          <a:xfrm>
            <a:off x="3361639" y="4528108"/>
            <a:ext cx="307238" cy="307238"/>
          </a:xfrm>
          <a:prstGeom prst="rect">
            <a:avLst/>
          </a:prstGeom>
        </p:spPr>
      </p:pic>
      <p:sp>
        <p:nvSpPr>
          <p:cNvPr id="27" name="card-head"/>
          <p:cNvSpPr txBox="1"/>
          <p:nvPr/>
        </p:nvSpPr>
        <p:spPr>
          <a:xfrm>
            <a:off x="822959" y="5029200"/>
            <a:ext cx="2966618" cy="384048"/>
          </a:xfrm>
          <a:prstGeom prst="rect">
            <a:avLst/>
          </a:prstGeom>
          <a:noFill/>
        </p:spPr>
        <p:txBody>
          <a:bodyPr wrap="square" lIns="0" rIns="0" tIns="0" bIns="0" anchor="t">
            <a:noAutofit/>
          </a:bodyPr>
          <a:lstStyle/>
          <a:p>
            <a:pPr algn="l">
              <a:lnSpc>
                <a:spcPct val="110000"/>
              </a:lnSpc>
              <a:spcAft>
                <a:spcPts val="0"/>
              </a:spcAft>
            </a:pPr>
            <a:r>
              <a:rPr sz="1800" b="1">
                <a:solidFill>
                  <a:srgbClr val="1F1B2E"/>
                </a:solidFill>
                <a:latin typeface="Be Vietnam Pro"/>
              </a:rPr>
              <a:t>DH/LM quản lý cuộc họp</a:t>
            </a:r>
          </a:p>
        </p:txBody>
      </p:sp>
      <p:sp>
        <p:nvSpPr>
          <p:cNvPr id="28" name="card-body"/>
          <p:cNvSpPr txBox="1"/>
          <p:nvPr/>
        </p:nvSpPr>
        <p:spPr>
          <a:xfrm>
            <a:off x="822959" y="5413248"/>
            <a:ext cx="2966618" cy="6400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Nhóm theo phòng ban, biên bản cùng một chuẩn</a:t>
            </a:r>
          </a:p>
        </p:txBody>
      </p:sp>
      <p:sp>
        <p:nvSpPr>
          <p:cNvPr id="29" name="card"/>
          <p:cNvSpPr/>
          <p:nvPr/>
        </p:nvSpPr>
        <p:spPr>
          <a:xfrm>
            <a:off x="4338218" y="4206240"/>
            <a:ext cx="3515258" cy="1901952"/>
          </a:xfrm>
          <a:prstGeom prst="roundRect">
            <a:avLst>
              <a:gd name="adj" fmla="val 9615"/>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badge"/>
          <p:cNvSpPr/>
          <p:nvPr/>
        </p:nvSpPr>
        <p:spPr>
          <a:xfrm>
            <a:off x="4612538" y="4462272"/>
            <a:ext cx="420624" cy="420624"/>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5</a:t>
            </a:r>
          </a:p>
        </p:txBody>
      </p:sp>
      <p:sp>
        <p:nvSpPr>
          <p:cNvPr id="31" name="tile"/>
          <p:cNvSpPr/>
          <p:nvPr/>
        </p:nvSpPr>
        <p:spPr>
          <a:xfrm>
            <a:off x="7030516" y="4407407"/>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descr="ic-coin-p.png"/>
          <p:cNvPicPr>
            <a:picLocks noChangeAspect="1"/>
          </p:cNvPicPr>
          <p:nvPr/>
        </p:nvPicPr>
        <p:blipFill>
          <a:blip r:embed="rId6"/>
          <a:stretch>
            <a:fillRect/>
          </a:stretch>
        </p:blipFill>
        <p:spPr>
          <a:xfrm>
            <a:off x="7151217" y="4528108"/>
            <a:ext cx="307238" cy="307238"/>
          </a:xfrm>
          <a:prstGeom prst="rect">
            <a:avLst/>
          </a:prstGeom>
        </p:spPr>
      </p:pic>
      <p:sp>
        <p:nvSpPr>
          <p:cNvPr id="33" name="card-head"/>
          <p:cNvSpPr txBox="1"/>
          <p:nvPr/>
        </p:nvSpPr>
        <p:spPr>
          <a:xfrm>
            <a:off x="4612538" y="5029200"/>
            <a:ext cx="2966618" cy="384048"/>
          </a:xfrm>
          <a:prstGeom prst="rect">
            <a:avLst/>
          </a:prstGeom>
          <a:noFill/>
        </p:spPr>
        <p:txBody>
          <a:bodyPr wrap="square" lIns="0" rIns="0" tIns="0" bIns="0" anchor="t">
            <a:noAutofit/>
          </a:bodyPr>
          <a:lstStyle/>
          <a:p>
            <a:pPr algn="l">
              <a:lnSpc>
                <a:spcPct val="110000"/>
              </a:lnSpc>
              <a:spcAft>
                <a:spcPts val="0"/>
              </a:spcAft>
            </a:pPr>
            <a:r>
              <a:rPr sz="1800" b="1">
                <a:solidFill>
                  <a:srgbClr val="1F1B2E"/>
                </a:solidFill>
                <a:latin typeface="Be Vietnam Pro"/>
              </a:rPr>
              <a:t>Bot Recall.ai</a:t>
            </a:r>
          </a:p>
        </p:txBody>
      </p:sp>
      <p:sp>
        <p:nvSpPr>
          <p:cNvPr id="34" name="card-body"/>
          <p:cNvSpPr txBox="1"/>
          <p:nvPr/>
        </p:nvSpPr>
        <p:spPr>
          <a:xfrm>
            <a:off x="4612538" y="5413248"/>
            <a:ext cx="2966618" cy="6400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Bot tính phí 0,5 USD mỗi giờ, một bot mỗi cuộc họp</a:t>
            </a:r>
          </a:p>
        </p:txBody>
      </p:sp>
      <p:sp>
        <p:nvSpPr>
          <p:cNvPr id="35" name="card"/>
          <p:cNvSpPr/>
          <p:nvPr/>
        </p:nvSpPr>
        <p:spPr>
          <a:xfrm>
            <a:off x="8127796" y="4206240"/>
            <a:ext cx="3515258" cy="1901952"/>
          </a:xfrm>
          <a:prstGeom prst="roundRect">
            <a:avLst>
              <a:gd name="adj" fmla="val 9615"/>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badge"/>
          <p:cNvSpPr/>
          <p:nvPr/>
        </p:nvSpPr>
        <p:spPr>
          <a:xfrm>
            <a:off x="8402116" y="4462272"/>
            <a:ext cx="420624" cy="420624"/>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6</a:t>
            </a:r>
          </a:p>
        </p:txBody>
      </p:sp>
      <p:sp>
        <p:nvSpPr>
          <p:cNvPr id="37" name="tile"/>
          <p:cNvSpPr/>
          <p:nvPr/>
        </p:nvSpPr>
        <p:spPr>
          <a:xfrm>
            <a:off x="10820095" y="4407407"/>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icon" descr="ic-db-p.png"/>
          <p:cNvPicPr>
            <a:picLocks noChangeAspect="1"/>
          </p:cNvPicPr>
          <p:nvPr/>
        </p:nvPicPr>
        <p:blipFill>
          <a:blip r:embed="rId7"/>
          <a:stretch>
            <a:fillRect/>
          </a:stretch>
        </p:blipFill>
        <p:spPr>
          <a:xfrm>
            <a:off x="10940796" y="4528108"/>
            <a:ext cx="307238" cy="307238"/>
          </a:xfrm>
          <a:prstGeom prst="rect">
            <a:avLst/>
          </a:prstGeom>
        </p:spPr>
      </p:pic>
      <p:sp>
        <p:nvSpPr>
          <p:cNvPr id="39" name="card-head"/>
          <p:cNvSpPr txBox="1"/>
          <p:nvPr/>
        </p:nvSpPr>
        <p:spPr>
          <a:xfrm>
            <a:off x="8402116" y="5029200"/>
            <a:ext cx="2966618" cy="384048"/>
          </a:xfrm>
          <a:prstGeom prst="rect">
            <a:avLst/>
          </a:prstGeom>
          <a:noFill/>
        </p:spPr>
        <p:txBody>
          <a:bodyPr wrap="square" lIns="0" rIns="0" tIns="0" bIns="0" anchor="t">
            <a:noAutofit/>
          </a:bodyPr>
          <a:lstStyle/>
          <a:p>
            <a:pPr algn="l">
              <a:lnSpc>
                <a:spcPct val="110000"/>
              </a:lnSpc>
              <a:spcAft>
                <a:spcPts val="0"/>
              </a:spcAft>
            </a:pPr>
            <a:r>
              <a:rPr sz="1800" b="1">
                <a:solidFill>
                  <a:srgbClr val="1F1B2E"/>
                </a:solidFill>
                <a:latin typeface="Be Vietnam Pro"/>
              </a:rPr>
              <a:t>Lưu trữ</a:t>
            </a:r>
          </a:p>
        </p:txBody>
      </p:sp>
      <p:sp>
        <p:nvSpPr>
          <p:cNvPr id="40" name="card-body"/>
          <p:cNvSpPr txBox="1"/>
          <p:nvPr/>
        </p:nvSpPr>
        <p:spPr>
          <a:xfrm>
            <a:off x="8402116" y="5413248"/>
            <a:ext cx="2966618" cy="6400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Lưu từng câu khi nói, biên bản lên Drive sau họp</a:t>
            </a:r>
          </a:p>
        </p:txBody>
      </p:sp>
      <p:pic>
        <p:nvPicPr>
          <p:cNvPr id="41" name="logo" descr="logo-purple.png"/>
          <p:cNvPicPr>
            <a:picLocks noChangeAspect="1"/>
          </p:cNvPicPr>
          <p:nvPr/>
        </p:nvPicPr>
        <p:blipFill>
          <a:blip r:embed="rId8"/>
          <a:stretch>
            <a:fillRect/>
          </a:stretch>
        </p:blipFill>
        <p:spPr>
          <a:xfrm>
            <a:off x="548640" y="6382512"/>
            <a:ext cx="850392" cy="237744"/>
          </a:xfrm>
          <a:prstGeom prst="rect">
            <a:avLst/>
          </a:prstGeom>
        </p:spPr>
      </p:pic>
      <p:sp>
        <p:nvSpPr>
          <p:cNvPr id="42"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43"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1548993"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1 · Khác biệt</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Hỗ trợ ngay lúc họp, bằng dữ liệu của UrBox</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So với Gemini trong Google Meet, Otter, Fireflies, tl;dv: mạnh ở chép lời, tóm tắt sau buổi họp</a:t>
            </a:r>
          </a:p>
        </p:txBody>
      </p:sp>
      <p:sp>
        <p:nvSpPr>
          <p:cNvPr id="5" name="card"/>
          <p:cNvSpPr/>
          <p:nvPr/>
        </p:nvSpPr>
        <p:spPr>
          <a:xfrm>
            <a:off x="548640" y="2057400"/>
            <a:ext cx="3515258" cy="1810512"/>
          </a:xfrm>
          <a:prstGeom prst="roundRect">
            <a:avLst>
              <a:gd name="adj" fmla="val 10101"/>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ile"/>
          <p:cNvSpPr/>
          <p:nvPr/>
        </p:nvSpPr>
        <p:spPr>
          <a:xfrm>
            <a:off x="804672" y="2313432"/>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icon" descr="ic-ask-p.png"/>
          <p:cNvPicPr>
            <a:picLocks noChangeAspect="1"/>
          </p:cNvPicPr>
          <p:nvPr/>
        </p:nvPicPr>
        <p:blipFill>
          <a:blip r:embed="rId2"/>
          <a:stretch>
            <a:fillRect/>
          </a:stretch>
        </p:blipFill>
        <p:spPr>
          <a:xfrm>
            <a:off x="925372" y="2434132"/>
            <a:ext cx="307238" cy="307238"/>
          </a:xfrm>
          <a:prstGeom prst="rect">
            <a:avLst/>
          </a:prstGeom>
        </p:spPr>
      </p:pic>
      <p:sp>
        <p:nvSpPr>
          <p:cNvPr id="8" name="card-head"/>
          <p:cNvSpPr txBox="1"/>
          <p:nvPr/>
        </p:nvSpPr>
        <p:spPr>
          <a:xfrm>
            <a:off x="1481328" y="2295144"/>
            <a:ext cx="2381402" cy="603504"/>
          </a:xfrm>
          <a:prstGeom prst="rect">
            <a:avLst/>
          </a:prstGeom>
          <a:noFill/>
        </p:spPr>
        <p:txBody>
          <a:bodyPr wrap="square" lIns="0" rIns="0" tIns="0" bIns="0" anchor="ctr">
            <a:noAutofit/>
          </a:bodyPr>
          <a:lstStyle/>
          <a:p>
            <a:pPr algn="l">
              <a:lnSpc>
                <a:spcPct val="100000"/>
              </a:lnSpc>
              <a:spcAft>
                <a:spcPts val="0"/>
              </a:spcAft>
            </a:pPr>
            <a:r>
              <a:rPr sz="1600" b="1">
                <a:solidFill>
                  <a:srgbClr val="1F1B2E"/>
                </a:solidFill>
                <a:latin typeface="Be Vietnam Pro"/>
              </a:rPr>
              <a:t>Gợi ý trả lời khách sau 4-8 giây</a:t>
            </a:r>
          </a:p>
        </p:txBody>
      </p:sp>
      <p:sp>
        <p:nvSpPr>
          <p:cNvPr id="9" name="card-body"/>
          <p:cNvSpPr txBox="1"/>
          <p:nvPr/>
        </p:nvSpPr>
        <p:spPr>
          <a:xfrm>
            <a:off x="804672" y="2953512"/>
            <a:ext cx="3058058" cy="8686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Bảng BD lấy từ tài liệu nhóm, cuộc họp trước và WikiBox, có dấu nguồn; chỉ đội mình thấy</a:t>
            </a:r>
          </a:p>
        </p:txBody>
      </p:sp>
      <p:sp>
        <p:nvSpPr>
          <p:cNvPr id="10" name="card"/>
          <p:cNvSpPr/>
          <p:nvPr/>
        </p:nvSpPr>
        <p:spPr>
          <a:xfrm>
            <a:off x="4338218" y="2057400"/>
            <a:ext cx="3515258" cy="1810512"/>
          </a:xfrm>
          <a:prstGeom prst="roundRect">
            <a:avLst>
              <a:gd name="adj" fmla="val 10101"/>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ile"/>
          <p:cNvSpPr/>
          <p:nvPr/>
        </p:nvSpPr>
        <p:spPr>
          <a:xfrm>
            <a:off x="4594250" y="2313432"/>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icon" descr="ic-mic-p.png"/>
          <p:cNvPicPr>
            <a:picLocks noChangeAspect="1"/>
          </p:cNvPicPr>
          <p:nvPr/>
        </p:nvPicPr>
        <p:blipFill>
          <a:blip r:embed="rId3"/>
          <a:stretch>
            <a:fillRect/>
          </a:stretch>
        </p:blipFill>
        <p:spPr>
          <a:xfrm>
            <a:off x="4714951" y="2434132"/>
            <a:ext cx="307238" cy="307238"/>
          </a:xfrm>
          <a:prstGeom prst="rect">
            <a:avLst/>
          </a:prstGeom>
        </p:spPr>
      </p:pic>
      <p:sp>
        <p:nvSpPr>
          <p:cNvPr id="13" name="card-head"/>
          <p:cNvSpPr txBox="1"/>
          <p:nvPr/>
        </p:nvSpPr>
        <p:spPr>
          <a:xfrm>
            <a:off x="5270906" y="2295144"/>
            <a:ext cx="2381402" cy="603504"/>
          </a:xfrm>
          <a:prstGeom prst="rect">
            <a:avLst/>
          </a:prstGeom>
          <a:noFill/>
        </p:spPr>
        <p:txBody>
          <a:bodyPr wrap="square" lIns="0" rIns="0" tIns="0" bIns="0" anchor="ctr">
            <a:noAutofit/>
          </a:bodyPr>
          <a:lstStyle/>
          <a:p>
            <a:pPr algn="l">
              <a:lnSpc>
                <a:spcPct val="100000"/>
              </a:lnSpc>
              <a:spcAft>
                <a:spcPts val="0"/>
              </a:spcAft>
            </a:pPr>
            <a:r>
              <a:rPr sz="1600" b="1">
                <a:solidFill>
                  <a:srgbClr val="1F1B2E"/>
                </a:solidFill>
                <a:latin typeface="Be Vietnam Pro"/>
              </a:rPr>
              <a:t>Trợ lý giọng nói tiếng Việt</a:t>
            </a:r>
          </a:p>
        </p:txBody>
      </p:sp>
      <p:sp>
        <p:nvSpPr>
          <p:cNvPr id="14" name="card-body"/>
          <p:cNvSpPr txBox="1"/>
          <p:nvPr/>
        </p:nvSpPr>
        <p:spPr>
          <a:xfrm>
            <a:off x="4594250" y="2953512"/>
            <a:ext cx="3058058" cy="8686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Gọi "UrBox ơi" để tra cứu, tóm tắt, soạn slide, sơ đồ, dashboard ngay trên màn hình họp</a:t>
            </a:r>
          </a:p>
        </p:txBody>
      </p:sp>
      <p:sp>
        <p:nvSpPr>
          <p:cNvPr id="15" name="card"/>
          <p:cNvSpPr/>
          <p:nvPr/>
        </p:nvSpPr>
        <p:spPr>
          <a:xfrm>
            <a:off x="8127796" y="2057400"/>
            <a:ext cx="3515258" cy="1810512"/>
          </a:xfrm>
          <a:prstGeom prst="roundRect">
            <a:avLst>
              <a:gd name="adj" fmla="val 10101"/>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ile"/>
          <p:cNvSpPr/>
          <p:nvPr/>
        </p:nvSpPr>
        <p:spPr>
          <a:xfrm>
            <a:off x="8383828" y="2313432"/>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descr="ic-users-p.png"/>
          <p:cNvPicPr>
            <a:picLocks noChangeAspect="1"/>
          </p:cNvPicPr>
          <p:nvPr/>
        </p:nvPicPr>
        <p:blipFill>
          <a:blip r:embed="rId4"/>
          <a:stretch>
            <a:fillRect/>
          </a:stretch>
        </p:blipFill>
        <p:spPr>
          <a:xfrm>
            <a:off x="8504529" y="2434132"/>
            <a:ext cx="307238" cy="307238"/>
          </a:xfrm>
          <a:prstGeom prst="rect">
            <a:avLst/>
          </a:prstGeom>
        </p:spPr>
      </p:pic>
      <p:sp>
        <p:nvSpPr>
          <p:cNvPr id="18" name="card-head"/>
          <p:cNvSpPr txBox="1"/>
          <p:nvPr/>
        </p:nvSpPr>
        <p:spPr>
          <a:xfrm>
            <a:off x="9060484" y="2295144"/>
            <a:ext cx="2381402" cy="603504"/>
          </a:xfrm>
          <a:prstGeom prst="rect">
            <a:avLst/>
          </a:prstGeom>
          <a:noFill/>
        </p:spPr>
        <p:txBody>
          <a:bodyPr wrap="square" lIns="0" rIns="0" tIns="0" bIns="0" anchor="ctr">
            <a:noAutofit/>
          </a:bodyPr>
          <a:lstStyle/>
          <a:p>
            <a:pPr algn="l">
              <a:lnSpc>
                <a:spcPct val="100000"/>
              </a:lnSpc>
              <a:spcAft>
                <a:spcPts val="0"/>
              </a:spcAft>
            </a:pPr>
            <a:r>
              <a:rPr sz="1600" b="1">
                <a:solidFill>
                  <a:srgbClr val="1F1B2E"/>
                </a:solidFill>
                <a:latin typeface="Be Vietnam Pro"/>
              </a:rPr>
              <a:t>Biết chính xác ai đang nói</a:t>
            </a:r>
          </a:p>
        </p:txBody>
      </p:sp>
      <p:sp>
        <p:nvSpPr>
          <p:cNvPr id="19" name="card-body"/>
          <p:cNvSpPr txBox="1"/>
          <p:nvPr/>
        </p:nvSpPr>
        <p:spPr>
          <a:xfrm>
            <a:off x="8383828" y="2953512"/>
            <a:ext cx="3058058" cy="8686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Mẫu giọng dùng chung cả công ty, cả họp trực tiếp; đúng 97-98% số câu ở 2 cuộc họp thật</a:t>
            </a:r>
          </a:p>
        </p:txBody>
      </p:sp>
      <p:sp>
        <p:nvSpPr>
          <p:cNvPr id="20" name="card"/>
          <p:cNvSpPr/>
          <p:nvPr/>
        </p:nvSpPr>
        <p:spPr>
          <a:xfrm>
            <a:off x="548640" y="4032504"/>
            <a:ext cx="3515258" cy="1810512"/>
          </a:xfrm>
          <a:prstGeom prst="roundRect">
            <a:avLst>
              <a:gd name="adj" fmla="val 10101"/>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ile"/>
          <p:cNvSpPr/>
          <p:nvPr/>
        </p:nvSpPr>
        <p:spPr>
          <a:xfrm>
            <a:off x="804672" y="4288536"/>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descr="ic-history-p.png"/>
          <p:cNvPicPr>
            <a:picLocks noChangeAspect="1"/>
          </p:cNvPicPr>
          <p:nvPr/>
        </p:nvPicPr>
        <p:blipFill>
          <a:blip r:embed="rId5"/>
          <a:stretch>
            <a:fillRect/>
          </a:stretch>
        </p:blipFill>
        <p:spPr>
          <a:xfrm>
            <a:off x="925372" y="4409236"/>
            <a:ext cx="307238" cy="307238"/>
          </a:xfrm>
          <a:prstGeom prst="rect">
            <a:avLst/>
          </a:prstGeom>
        </p:spPr>
      </p:pic>
      <p:sp>
        <p:nvSpPr>
          <p:cNvPr id="23" name="card-head"/>
          <p:cNvSpPr txBox="1"/>
          <p:nvPr/>
        </p:nvSpPr>
        <p:spPr>
          <a:xfrm>
            <a:off x="1481328" y="4270248"/>
            <a:ext cx="2381402" cy="603504"/>
          </a:xfrm>
          <a:prstGeom prst="rect">
            <a:avLst/>
          </a:prstGeom>
          <a:noFill/>
        </p:spPr>
        <p:txBody>
          <a:bodyPr wrap="square" lIns="0" rIns="0" tIns="0" bIns="0" anchor="ctr">
            <a:noAutofit/>
          </a:bodyPr>
          <a:lstStyle/>
          <a:p>
            <a:pPr algn="l">
              <a:lnSpc>
                <a:spcPct val="100000"/>
              </a:lnSpc>
              <a:spcAft>
                <a:spcPts val="0"/>
              </a:spcAft>
            </a:pPr>
            <a:r>
              <a:rPr sz="1600" b="1">
                <a:solidFill>
                  <a:srgbClr val="1F1B2E"/>
                </a:solidFill>
                <a:latin typeface="Be Vietnam Pro"/>
              </a:rPr>
              <a:t>Nhớ xuyên các cuộc họp</a:t>
            </a:r>
          </a:p>
        </p:txBody>
      </p:sp>
      <p:sp>
        <p:nvSpPr>
          <p:cNvPr id="24" name="card-body"/>
          <p:cNvSpPr txBox="1"/>
          <p:nvPr/>
        </p:nvSpPr>
        <p:spPr>
          <a:xfrm>
            <a:off x="804672" y="4928616"/>
            <a:ext cx="3058058" cy="8686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Biên bản tự nhắc khi buổi này nói khác điều nhóm đã chốt ở 12 buổi gần nhất</a:t>
            </a:r>
          </a:p>
        </p:txBody>
      </p:sp>
      <p:sp>
        <p:nvSpPr>
          <p:cNvPr id="25" name="card"/>
          <p:cNvSpPr/>
          <p:nvPr/>
        </p:nvSpPr>
        <p:spPr>
          <a:xfrm>
            <a:off x="4338218" y="4032504"/>
            <a:ext cx="3515258" cy="1810512"/>
          </a:xfrm>
          <a:prstGeom prst="roundRect">
            <a:avLst>
              <a:gd name="adj" fmla="val 10101"/>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ile"/>
          <p:cNvSpPr/>
          <p:nvPr/>
        </p:nvSpPr>
        <p:spPr>
          <a:xfrm>
            <a:off x="4594250" y="4288536"/>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descr="ic-video-p.png"/>
          <p:cNvPicPr>
            <a:picLocks noChangeAspect="1"/>
          </p:cNvPicPr>
          <p:nvPr/>
        </p:nvPicPr>
        <p:blipFill>
          <a:blip r:embed="rId6"/>
          <a:stretch>
            <a:fillRect/>
          </a:stretch>
        </p:blipFill>
        <p:spPr>
          <a:xfrm>
            <a:off x="4714951" y="4409236"/>
            <a:ext cx="307238" cy="307238"/>
          </a:xfrm>
          <a:prstGeom prst="rect">
            <a:avLst/>
          </a:prstGeom>
        </p:spPr>
      </p:pic>
      <p:sp>
        <p:nvSpPr>
          <p:cNvPr id="28" name="card-head"/>
          <p:cNvSpPr txBox="1"/>
          <p:nvPr/>
        </p:nvSpPr>
        <p:spPr>
          <a:xfrm>
            <a:off x="5270906" y="4270248"/>
            <a:ext cx="2381402" cy="603504"/>
          </a:xfrm>
          <a:prstGeom prst="rect">
            <a:avLst/>
          </a:prstGeom>
          <a:noFill/>
        </p:spPr>
        <p:txBody>
          <a:bodyPr wrap="square" lIns="0" rIns="0" tIns="0" bIns="0" anchor="ctr">
            <a:noAutofit/>
          </a:bodyPr>
          <a:lstStyle/>
          <a:p>
            <a:pPr algn="l">
              <a:lnSpc>
                <a:spcPct val="100000"/>
              </a:lnSpc>
              <a:spcAft>
                <a:spcPts val="0"/>
              </a:spcAft>
            </a:pPr>
            <a:r>
              <a:rPr sz="1600" b="1">
                <a:solidFill>
                  <a:srgbClr val="1F1B2E"/>
                </a:solidFill>
                <a:latin typeface="Be Vietnam Pro"/>
              </a:rPr>
              <a:t>Họp kết hợp, một bot cho tất cả</a:t>
            </a:r>
          </a:p>
        </p:txBody>
      </p:sp>
      <p:sp>
        <p:nvSpPr>
          <p:cNvPr id="29" name="card-body"/>
          <p:cNvSpPr txBox="1"/>
          <p:nvPr/>
        </p:nvSpPr>
        <p:spPr>
          <a:xfrm>
            <a:off x="4594250" y="4928616"/>
            <a:ext cx="3058058" cy="8686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Mic trong phòng cùng người online qua Meet; nhiều người dùng Copilot chỉ cần một bot</a:t>
            </a:r>
          </a:p>
        </p:txBody>
      </p:sp>
      <p:sp>
        <p:nvSpPr>
          <p:cNvPr id="30" name="card"/>
          <p:cNvSpPr/>
          <p:nvPr/>
        </p:nvSpPr>
        <p:spPr>
          <a:xfrm>
            <a:off x="8127796" y="4032504"/>
            <a:ext cx="3515258" cy="1810512"/>
          </a:xfrm>
          <a:prstGeom prst="roundRect">
            <a:avLst>
              <a:gd name="adj" fmla="val 10101"/>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ile"/>
          <p:cNvSpPr/>
          <p:nvPr/>
        </p:nvSpPr>
        <p:spPr>
          <a:xfrm>
            <a:off x="8383828" y="4288536"/>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descr="ic-shield-p.png"/>
          <p:cNvPicPr>
            <a:picLocks noChangeAspect="1"/>
          </p:cNvPicPr>
          <p:nvPr/>
        </p:nvPicPr>
        <p:blipFill>
          <a:blip r:embed="rId7"/>
          <a:stretch>
            <a:fillRect/>
          </a:stretch>
        </p:blipFill>
        <p:spPr>
          <a:xfrm>
            <a:off x="8504529" y="4409236"/>
            <a:ext cx="307238" cy="307238"/>
          </a:xfrm>
          <a:prstGeom prst="rect">
            <a:avLst/>
          </a:prstGeom>
        </p:spPr>
      </p:pic>
      <p:sp>
        <p:nvSpPr>
          <p:cNvPr id="33" name="card-head"/>
          <p:cNvSpPr txBox="1"/>
          <p:nvPr/>
        </p:nvSpPr>
        <p:spPr>
          <a:xfrm>
            <a:off x="9060484" y="4270248"/>
            <a:ext cx="2381402" cy="603504"/>
          </a:xfrm>
          <a:prstGeom prst="rect">
            <a:avLst/>
          </a:prstGeom>
          <a:noFill/>
        </p:spPr>
        <p:txBody>
          <a:bodyPr wrap="square" lIns="0" rIns="0" tIns="0" bIns="0" anchor="ctr">
            <a:noAutofit/>
          </a:bodyPr>
          <a:lstStyle/>
          <a:p>
            <a:pPr algn="l">
              <a:lnSpc>
                <a:spcPct val="100000"/>
              </a:lnSpc>
              <a:spcAft>
                <a:spcPts val="0"/>
              </a:spcAft>
            </a:pPr>
            <a:r>
              <a:rPr sz="1600" b="1">
                <a:solidFill>
                  <a:srgbClr val="1F1B2E"/>
                </a:solidFill>
                <a:latin typeface="Be Vietnam Pro"/>
              </a:rPr>
              <a:t>Quản lý theo nhóm, dữ liệu UrBox</a:t>
            </a:r>
          </a:p>
        </p:txBody>
      </p:sp>
      <p:sp>
        <p:nvSpPr>
          <p:cNvPr id="34" name="card-body"/>
          <p:cNvSpPr txBox="1"/>
          <p:nvPr/>
        </p:nvSpPr>
        <p:spPr>
          <a:xfrm>
            <a:off x="8383828" y="4928616"/>
            <a:ext cx="3058058" cy="868680"/>
          </a:xfrm>
          <a:prstGeom prst="rect">
            <a:avLst/>
          </a:prstGeom>
          <a:noFill/>
        </p:spPr>
        <p:txBody>
          <a:bodyPr wrap="square" lIns="0" rIns="0" tIns="0" bIns="0" anchor="t">
            <a:noAutofit/>
          </a:bodyPr>
          <a:lstStyle/>
          <a:p>
            <a:pPr algn="l">
              <a:lnSpc>
                <a:spcPct val="105000"/>
              </a:lnSpc>
              <a:spcAft>
                <a:spcPts val="0"/>
              </a:spcAft>
            </a:pPr>
            <a:r>
              <a:rPr sz="1400" b="0">
                <a:solidFill>
                  <a:srgbClr val="5F5A73"/>
                </a:solidFill>
                <a:latin typeface="Be Vietnam Pro"/>
              </a:rPr>
              <a:t>Nhóm theo phòng ban, mẫu biên bản chuẩn; dữ liệu ở Atlas, Drive của UrBox, đăng nhập @urbox.vn</a:t>
            </a:r>
          </a:p>
        </p:txBody>
      </p:sp>
      <p:sp>
        <p:nvSpPr>
          <p:cNvPr id="35" name="note"/>
          <p:cNvSpPr txBox="1"/>
          <p:nvPr/>
        </p:nvSpPr>
        <p:spPr>
          <a:xfrm>
            <a:off x="548640" y="5943600"/>
            <a:ext cx="11094415" cy="292608"/>
          </a:xfrm>
          <a:prstGeom prst="rect">
            <a:avLst/>
          </a:prstGeom>
          <a:noFill/>
        </p:spPr>
        <p:txBody>
          <a:bodyPr wrap="square" lIns="0" rIns="0" tIns="0" bIns="0" anchor="t">
            <a:noAutofit/>
          </a:bodyPr>
          <a:lstStyle/>
          <a:p>
            <a:pPr algn="l">
              <a:lnSpc>
                <a:spcPct val="110000"/>
              </a:lnSpc>
              <a:spcAft>
                <a:spcPts val="0"/>
              </a:spcAft>
            </a:pPr>
            <a:r>
              <a:rPr sz="1150" b="0">
                <a:solidFill>
                  <a:srgbClr val="5F5A73"/>
                </a:solidFill>
                <a:latin typeface="Be Vietnam Pro"/>
              </a:rPr>
              <a:t>Chép lời, tóm tắt, bot Google Meet, lưu Drive là phần cơ bản, công cụ khác cũng có. Điểm mạnh là gộp tất cả trên dữ liệu và quy trình của UrBox.</a:t>
            </a:r>
          </a:p>
        </p:txBody>
      </p:sp>
      <p:pic>
        <p:nvPicPr>
          <p:cNvPr id="36" name="logo" descr="logo-purple.png"/>
          <p:cNvPicPr>
            <a:picLocks noChangeAspect="1"/>
          </p:cNvPicPr>
          <p:nvPr/>
        </p:nvPicPr>
        <p:blipFill>
          <a:blip r:embed="rId8"/>
          <a:stretch>
            <a:fillRect/>
          </a:stretch>
        </p:blipFill>
        <p:spPr>
          <a:xfrm>
            <a:off x="548640" y="6382512"/>
            <a:ext cx="850392" cy="237744"/>
          </a:xfrm>
          <a:prstGeom prst="rect">
            <a:avLst/>
          </a:prstGeom>
        </p:spPr>
      </p:pic>
      <p:sp>
        <p:nvSpPr>
          <p:cNvPr id="37"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38"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2534716"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1 · Ví dụ trong buổi họp</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Khách hỏi điều BD chưa nắm: vài giây là có gợi ý</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Bảng BD mở trên máy của đội mình, không chiếu lên màn hình chung, trợ lý không đọc thành tiếng</a:t>
            </a:r>
          </a:p>
        </p:txBody>
      </p:sp>
      <p:sp>
        <p:nvSpPr>
          <p:cNvPr id="5" name="step"/>
          <p:cNvSpPr txBox="1"/>
          <p:nvPr/>
        </p:nvSpPr>
        <p:spPr>
          <a:xfrm>
            <a:off x="548640" y="2103120"/>
            <a:ext cx="4343400" cy="274320"/>
          </a:xfrm>
          <a:prstGeom prst="rect">
            <a:avLst/>
          </a:prstGeom>
          <a:noFill/>
        </p:spPr>
        <p:txBody>
          <a:bodyPr wrap="square" lIns="0" rIns="0" tIns="0" bIns="0" anchor="t">
            <a:noAutofit/>
          </a:bodyPr>
          <a:lstStyle/>
          <a:p>
            <a:pPr algn="l">
              <a:lnSpc>
                <a:spcPct val="110000"/>
              </a:lnSpc>
              <a:spcAft>
                <a:spcPts val="0"/>
              </a:spcAft>
            </a:pPr>
            <a:r>
              <a:rPr sz="1100" b="1">
                <a:solidFill>
                  <a:srgbClr val="6821C2"/>
                </a:solidFill>
                <a:latin typeface="Be Vietnam Pro"/>
              </a:rPr>
              <a:t>KHÁCH HỎI</a:t>
            </a:r>
          </a:p>
        </p:txBody>
      </p:sp>
      <p:sp>
        <p:nvSpPr>
          <p:cNvPr id="6" name="bubble"/>
          <p:cNvSpPr/>
          <p:nvPr/>
        </p:nvSpPr>
        <p:spPr>
          <a:xfrm>
            <a:off x="548640" y="2395728"/>
            <a:ext cx="4343400" cy="841248"/>
          </a:xfrm>
          <a:prstGeom prst="roundRect">
            <a:avLst>
              <a:gd name="adj" fmla="val 19565"/>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noAutofit/>
          </a:bodyPr>
          <a:lstStyle/>
          <a:p>
            <a:pPr algn="l">
              <a:lnSpc>
                <a:spcPct val="110000"/>
              </a:lnSpc>
              <a:spcAft>
                <a:spcPts val="0"/>
              </a:spcAft>
            </a:pPr>
            <a:r>
              <a:rPr sz="1500" b="0">
                <a:solidFill>
                  <a:srgbClr val="1F1B2E"/>
                </a:solidFill>
                <a:latin typeface="Be Vietnam Pro"/>
              </a:rPr>
              <a:t>"Phí tích hợp API bao nhiêu, có khác lần trước không?"</a:t>
            </a:r>
          </a:p>
        </p:txBody>
      </p:sp>
      <p:sp>
        <p:nvSpPr>
          <p:cNvPr id="7" name="step"/>
          <p:cNvSpPr txBox="1"/>
          <p:nvPr/>
        </p:nvSpPr>
        <p:spPr>
          <a:xfrm>
            <a:off x="548640" y="3429000"/>
            <a:ext cx="4343400" cy="274320"/>
          </a:xfrm>
          <a:prstGeom prst="rect">
            <a:avLst/>
          </a:prstGeom>
          <a:noFill/>
        </p:spPr>
        <p:txBody>
          <a:bodyPr wrap="square" lIns="0" rIns="0" tIns="0" bIns="0" anchor="t">
            <a:noAutofit/>
          </a:bodyPr>
          <a:lstStyle/>
          <a:p>
            <a:pPr algn="l">
              <a:lnSpc>
                <a:spcPct val="110000"/>
              </a:lnSpc>
              <a:spcAft>
                <a:spcPts val="0"/>
              </a:spcAft>
            </a:pPr>
            <a:r>
              <a:rPr sz="1100" b="1">
                <a:solidFill>
                  <a:srgbClr val="6821C2"/>
                </a:solidFill>
                <a:latin typeface="Be Vietnam Pro"/>
              </a:rPr>
              <a:t>SAU 4-8 GIÂY (ĐO THẬT)</a:t>
            </a:r>
          </a:p>
        </p:txBody>
      </p:sp>
      <p:sp>
        <p:nvSpPr>
          <p:cNvPr id="8" name="answer"/>
          <p:cNvSpPr/>
          <p:nvPr/>
        </p:nvSpPr>
        <p:spPr>
          <a:xfrm>
            <a:off x="548640" y="3721608"/>
            <a:ext cx="4343400" cy="1481328"/>
          </a:xfrm>
          <a:prstGeom prst="roundRect">
            <a:avLst>
              <a:gd name="adj" fmla="val 11111"/>
            </a:avLst>
          </a:prstGeom>
          <a:solidFill>
            <a:srgbClr val="FFFFFF"/>
          </a:solidFill>
          <a:ln w="15875">
            <a:solidFill>
              <a:srgbClr val="6821C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nswer-text"/>
          <p:cNvSpPr txBox="1"/>
          <p:nvPr/>
        </p:nvSpPr>
        <p:spPr>
          <a:xfrm>
            <a:off x="731520" y="3813048"/>
            <a:ext cx="3977639" cy="566928"/>
          </a:xfrm>
          <a:prstGeom prst="rect">
            <a:avLst/>
          </a:prstGeom>
          <a:noFill/>
        </p:spPr>
        <p:txBody>
          <a:bodyPr wrap="square" lIns="0" rIns="0" tIns="0" bIns="0" anchor="t">
            <a:noAutofit/>
          </a:bodyPr>
          <a:lstStyle/>
          <a:p>
            <a:pPr algn="l">
              <a:lnSpc>
                <a:spcPct val="105000"/>
              </a:lnSpc>
              <a:spcAft>
                <a:spcPts val="0"/>
              </a:spcAft>
            </a:pPr>
            <a:r>
              <a:rPr sz="1500" b="1">
                <a:solidFill>
                  <a:srgbClr val="1F1B2E"/>
                </a:solidFill>
                <a:latin typeface="Be Vietnam Pro"/>
              </a:rPr>
              <a:t>5.000.000đ, thu một lần</a:t>
            </a:r>
            <a:r>
              <a:rPr sz="1500" b="0">
                <a:solidFill>
                  <a:srgbClr val="1F1B2E"/>
                </a:solidFill>
                <a:latin typeface="Be Vietnam Pro"/>
              </a:rPr>
              <a:t>, gồm hỗ trợ 24/7 [K1]</a:t>
            </a:r>
          </a:p>
        </p:txBody>
      </p:sp>
      <p:sp>
        <p:nvSpPr>
          <p:cNvPr id="10" name="answer-note"/>
          <p:cNvSpPr txBox="1"/>
          <p:nvPr/>
        </p:nvSpPr>
        <p:spPr>
          <a:xfrm>
            <a:off x="731520" y="4407408"/>
            <a:ext cx="3977639" cy="749808"/>
          </a:xfrm>
          <a:prstGeom prst="rect">
            <a:avLst/>
          </a:prstGeom>
          <a:noFill/>
        </p:spPr>
        <p:txBody>
          <a:bodyPr wrap="square" lIns="0" rIns="0" tIns="0" bIns="0" anchor="t">
            <a:noAutofit/>
          </a:bodyPr>
          <a:lstStyle/>
          <a:p>
            <a:pPr algn="l">
              <a:lnSpc>
                <a:spcPct val="105000"/>
              </a:lnSpc>
              <a:spcAft>
                <a:spcPts val="0"/>
              </a:spcAft>
            </a:pPr>
            <a:r>
              <a:rPr sz="1300" b="0">
                <a:solidFill>
                  <a:srgbClr val="5F5A73"/>
                </a:solidFill>
                <a:latin typeface="Be Vietnam Pro"/>
              </a:rPr>
              <a:t>Ghi chú cho đội: buổi 02/10 đội mình đã báo 4.000.000đ [M1], nên giải thích phần chênh lệch</a:t>
            </a:r>
          </a:p>
        </p:txBody>
      </p:sp>
      <p:sp>
        <p:nvSpPr>
          <p:cNvPr id="11" name="step"/>
          <p:cNvSpPr txBox="1"/>
          <p:nvPr/>
        </p:nvSpPr>
        <p:spPr>
          <a:xfrm>
            <a:off x="548640" y="5394960"/>
            <a:ext cx="4343400" cy="274320"/>
          </a:xfrm>
          <a:prstGeom prst="rect">
            <a:avLst/>
          </a:prstGeom>
          <a:noFill/>
        </p:spPr>
        <p:txBody>
          <a:bodyPr wrap="square" lIns="0" rIns="0" tIns="0" bIns="0" anchor="t">
            <a:noAutofit/>
          </a:bodyPr>
          <a:lstStyle/>
          <a:p>
            <a:pPr algn="l">
              <a:lnSpc>
                <a:spcPct val="110000"/>
              </a:lnSpc>
              <a:spcAft>
                <a:spcPts val="0"/>
              </a:spcAft>
            </a:pPr>
            <a:r>
              <a:rPr sz="1100" b="1">
                <a:solidFill>
                  <a:srgbClr val="6821C2"/>
                </a:solidFill>
                <a:latin typeface="Be Vietnam Pro"/>
              </a:rPr>
              <a:t>BD TRẢ LỜI NGAY</a:t>
            </a:r>
          </a:p>
        </p:txBody>
      </p:sp>
      <p:sp>
        <p:nvSpPr>
          <p:cNvPr id="12" name="result"/>
          <p:cNvSpPr txBox="1"/>
          <p:nvPr/>
        </p:nvSpPr>
        <p:spPr>
          <a:xfrm>
            <a:off x="548640" y="5669280"/>
            <a:ext cx="4343400" cy="566928"/>
          </a:xfrm>
          <a:prstGeom prst="rect">
            <a:avLst/>
          </a:prstGeom>
          <a:noFill/>
        </p:spPr>
        <p:txBody>
          <a:bodyPr wrap="square" lIns="0" rIns="0" tIns="0" bIns="0" anchor="t">
            <a:noAutofit/>
          </a:bodyPr>
          <a:lstStyle/>
          <a:p>
            <a:pPr algn="l">
              <a:lnSpc>
                <a:spcPct val="105000"/>
              </a:lnSpc>
              <a:spcAft>
                <a:spcPts val="0"/>
              </a:spcAft>
            </a:pPr>
            <a:r>
              <a:rPr sz="1400" b="0">
                <a:solidFill>
                  <a:srgbClr val="1F1B2E"/>
                </a:solidFill>
                <a:latin typeface="Be Vietnam Pro"/>
              </a:rPr>
              <a:t>Không phải hẹn "em kiểm tra rồi gửi lại", và biết thông tin lấy từ đâu</a:t>
            </a:r>
          </a:p>
        </p:txBody>
      </p:sp>
      <p:pic>
        <p:nvPicPr>
          <p:cNvPr id="13" name="screenshot" descr="shot-bd.png"/>
          <p:cNvPicPr>
            <a:picLocks noChangeAspect="1"/>
          </p:cNvPicPr>
          <p:nvPr/>
        </p:nvPicPr>
        <p:blipFill>
          <a:blip r:embed="rId2"/>
          <a:stretch>
            <a:fillRect/>
          </a:stretch>
        </p:blipFill>
        <p:spPr>
          <a:xfrm>
            <a:off x="5120640" y="2103120"/>
            <a:ext cx="6519672" cy="3849624"/>
          </a:xfrm>
          <a:prstGeom prst="rect">
            <a:avLst/>
          </a:prstGeom>
        </p:spPr>
      </p:pic>
      <p:sp>
        <p:nvSpPr>
          <p:cNvPr id="14" name="legend"/>
          <p:cNvSpPr txBox="1"/>
          <p:nvPr/>
        </p:nvSpPr>
        <p:spPr>
          <a:xfrm>
            <a:off x="5120640" y="5989320"/>
            <a:ext cx="6519672" cy="292608"/>
          </a:xfrm>
          <a:prstGeom prst="rect">
            <a:avLst/>
          </a:prstGeom>
          <a:noFill/>
        </p:spPr>
        <p:txBody>
          <a:bodyPr wrap="square" lIns="0" rIns="0" tIns="0" bIns="0" anchor="t">
            <a:noAutofit/>
          </a:bodyPr>
          <a:lstStyle/>
          <a:p>
            <a:pPr algn="l">
              <a:lnSpc>
                <a:spcPct val="110000"/>
              </a:lnSpc>
              <a:spcAft>
                <a:spcPts val="0"/>
              </a:spcAft>
            </a:pPr>
            <a:r>
              <a:rPr sz="1150" b="0">
                <a:solidFill>
                  <a:srgbClr val="5F5A73"/>
                </a:solidFill>
                <a:latin typeface="Be Vietnam Pro"/>
              </a:rPr>
              <a:t>K: tài liệu nhóm · M: cuộc họp trước · U: WikiBox · W: trên mạng · dữ liệu mẫu</a:t>
            </a:r>
          </a:p>
        </p:txBody>
      </p:sp>
      <p:pic>
        <p:nvPicPr>
          <p:cNvPr id="15" name="logo" descr="logo-purple.png"/>
          <p:cNvPicPr>
            <a:picLocks noChangeAspect="1"/>
          </p:cNvPicPr>
          <p:nvPr/>
        </p:nvPicPr>
        <p:blipFill>
          <a:blip r:embed="rId3"/>
          <a:stretch>
            <a:fillRect/>
          </a:stretch>
        </p:blipFill>
        <p:spPr>
          <a:xfrm>
            <a:off x="548640" y="6382512"/>
            <a:ext cx="850392" cy="237744"/>
          </a:xfrm>
          <a:prstGeom prst="rect">
            <a:avLst/>
          </a:prstGeom>
        </p:spPr>
      </p:pic>
      <p:sp>
        <p:nvSpPr>
          <p:cNvPr id="16"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17"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2893161"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2 · Tài liệu nhóm và WikiBox</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Hai nguồn tri thức, hai nơi quản lý riêng</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Tài liệu riêng của nhóm tải lên Meeting Copilot; tài liệu chung của công ty đọc từ ứng dụng WikiBox</a:t>
            </a:r>
          </a:p>
        </p:txBody>
      </p:sp>
      <p:sp>
        <p:nvSpPr>
          <p:cNvPr id="5" name="card"/>
          <p:cNvSpPr/>
          <p:nvPr/>
        </p:nvSpPr>
        <p:spPr>
          <a:xfrm>
            <a:off x="548640" y="2103120"/>
            <a:ext cx="5410047" cy="2788920"/>
          </a:xfrm>
          <a:prstGeom prst="roundRect">
            <a:avLst>
              <a:gd name="adj" fmla="val 6557"/>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ile"/>
          <p:cNvSpPr/>
          <p:nvPr/>
        </p:nvSpPr>
        <p:spPr>
          <a:xfrm>
            <a:off x="822959" y="2331720"/>
            <a:ext cx="566928" cy="566928"/>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icon" descr="ic-folder-p.png"/>
          <p:cNvPicPr>
            <a:picLocks noChangeAspect="1"/>
          </p:cNvPicPr>
          <p:nvPr/>
        </p:nvPicPr>
        <p:blipFill>
          <a:blip r:embed="rId2"/>
          <a:stretch>
            <a:fillRect/>
          </a:stretch>
        </p:blipFill>
        <p:spPr>
          <a:xfrm>
            <a:off x="947684" y="2456444"/>
            <a:ext cx="317479" cy="317479"/>
          </a:xfrm>
          <a:prstGeom prst="rect">
            <a:avLst/>
          </a:prstGeom>
        </p:spPr>
      </p:pic>
      <p:sp>
        <p:nvSpPr>
          <p:cNvPr id="8" name="card-head"/>
          <p:cNvSpPr txBox="1"/>
          <p:nvPr/>
        </p:nvSpPr>
        <p:spPr>
          <a:xfrm>
            <a:off x="1554480" y="2286000"/>
            <a:ext cx="4129887" cy="365760"/>
          </a:xfrm>
          <a:prstGeom prst="rect">
            <a:avLst/>
          </a:prstGeom>
          <a:noFill/>
        </p:spPr>
        <p:txBody>
          <a:bodyPr wrap="square" lIns="0" rIns="0" tIns="0" bIns="0" anchor="t">
            <a:noAutofit/>
          </a:bodyPr>
          <a:lstStyle/>
          <a:p>
            <a:pPr algn="l">
              <a:lnSpc>
                <a:spcPct val="110000"/>
              </a:lnSpc>
              <a:spcAft>
                <a:spcPts val="0"/>
              </a:spcAft>
            </a:pPr>
            <a:r>
              <a:rPr sz="1800" b="1">
                <a:solidFill>
                  <a:srgbClr val="1F1B2E"/>
                </a:solidFill>
                <a:latin typeface="Be Vietnam Pro"/>
              </a:rPr>
              <a:t>Tài liệu của nhóm</a:t>
            </a:r>
          </a:p>
        </p:txBody>
      </p:sp>
      <p:sp>
        <p:nvSpPr>
          <p:cNvPr id="9" name="pill"/>
          <p:cNvSpPr/>
          <p:nvPr/>
        </p:nvSpPr>
        <p:spPr>
          <a:xfrm>
            <a:off x="1554480" y="2679192"/>
            <a:ext cx="2055571" cy="292608"/>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100" b="1">
                <a:solidFill>
                  <a:srgbClr val="6821C2"/>
                </a:solidFill>
                <a:latin typeface="Be Vietnam Pro"/>
              </a:rPr>
              <a:t>Trong Meeting Copilot</a:t>
            </a:r>
          </a:p>
        </p:txBody>
      </p:sp>
      <p:sp>
        <p:nvSpPr>
          <p:cNvPr id="10" name="card-list"/>
          <p:cNvSpPr txBox="1"/>
          <p:nvPr/>
        </p:nvSpPr>
        <p:spPr>
          <a:xfrm>
            <a:off x="822959" y="3200400"/>
            <a:ext cx="4861407" cy="1645920"/>
          </a:xfrm>
          <a:prstGeom prst="rect">
            <a:avLst/>
          </a:prstGeom>
          <a:noFill/>
        </p:spPr>
        <p:txBody>
          <a:bodyPr wrap="square" lIns="0" rIns="0" tIns="0" bIns="0" anchor="t">
            <a:noAutofit/>
          </a:bodyPr>
          <a:lstStyle/>
          <a:p>
            <a:pPr algn="l" marL="219456" indent="-219456">
              <a:lnSpc>
                <a:spcPct val="105000"/>
              </a:lnSpc>
              <a:spcAft>
                <a:spcPts val="900"/>
              </a:spcAft>
              <a:buClr>
                <a:srgbClr val="6821C2"/>
              </a:buClr>
              <a:buSzPct val="100000"/>
              <a:buFont typeface="Arial"/>
              <a:buChar char="•"/>
            </a:pPr>
            <a:r>
              <a:rPr sz="1400" b="0">
                <a:solidFill>
                  <a:srgbClr val="1F1B2E"/>
                </a:solidFill>
                <a:latin typeface="Be Vietnam Pro"/>
              </a:rPr>
              <a:t>Chủ nhóm tải lên: bảng giá, hồ sơ năng lực, FAQ, JD</a:t>
            </a:r>
          </a:p>
          <a:p>
            <a:pPr algn="l" marL="219456" indent="-219456">
              <a:lnSpc>
                <a:spcPct val="105000"/>
              </a:lnSpc>
              <a:spcAft>
                <a:spcPts val="900"/>
              </a:spcAft>
              <a:buClr>
                <a:srgbClr val="6821C2"/>
              </a:buClr>
              <a:buSzPct val="100000"/>
              <a:buFont typeface="Arial"/>
              <a:buChar char="•"/>
            </a:pPr>
            <a:r>
              <a:rPr sz="1400" b="0">
                <a:solidFill>
                  <a:srgbClr val="1F1B2E"/>
                </a:solidFill>
                <a:latin typeface="Be Vietnam Pro"/>
              </a:rPr>
              <a:t>PDF, Word, PowerPoint, .txt; tối đa 25 MB, 100 tài liệu</a:t>
            </a:r>
          </a:p>
          <a:p>
            <a:pPr algn="l" marL="219456" indent="-219456">
              <a:lnSpc>
                <a:spcPct val="105000"/>
              </a:lnSpc>
              <a:spcAft>
                <a:spcPts val="900"/>
              </a:spcAft>
              <a:buClr>
                <a:srgbClr val="6821C2"/>
              </a:buClr>
              <a:buSzPct val="100000"/>
              <a:buFont typeface="Arial"/>
              <a:buChar char="•"/>
            </a:pPr>
            <a:r>
              <a:rPr sz="1400" b="0">
                <a:solidFill>
                  <a:srgbClr val="1F1B2E"/>
                </a:solidFill>
                <a:latin typeface="Be Vietnam Pro"/>
              </a:rPr>
              <a:t>Chỉ giữ phần chữ, không giữ tệp gốc</a:t>
            </a:r>
          </a:p>
          <a:p>
            <a:pPr algn="l" marL="219456" indent="-219456">
              <a:lnSpc>
                <a:spcPct val="105000"/>
              </a:lnSpc>
              <a:spcAft>
                <a:spcPts val="900"/>
              </a:spcAft>
              <a:buClr>
                <a:srgbClr val="6821C2"/>
              </a:buClr>
              <a:buSzPct val="100000"/>
              <a:buFont typeface="Arial"/>
              <a:buChar char="•"/>
            </a:pPr>
            <a:r>
              <a:rPr sz="1400" b="0">
                <a:solidFill>
                  <a:srgbClr val="1F1B2E"/>
                </a:solidFill>
                <a:latin typeface="Be Vietnam Pro"/>
              </a:rPr>
              <a:t>Dùng cho Bảng BD, hỏi trên mọi cuộc họp (dấu K)</a:t>
            </a:r>
          </a:p>
        </p:txBody>
      </p:sp>
      <p:sp>
        <p:nvSpPr>
          <p:cNvPr id="11" name="card"/>
          <p:cNvSpPr/>
          <p:nvPr/>
        </p:nvSpPr>
        <p:spPr>
          <a:xfrm>
            <a:off x="6233007" y="2103120"/>
            <a:ext cx="5410047" cy="2788920"/>
          </a:xfrm>
          <a:prstGeom prst="roundRect">
            <a:avLst>
              <a:gd name="adj" fmla="val 6557"/>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ile"/>
          <p:cNvSpPr/>
          <p:nvPr/>
        </p:nvSpPr>
        <p:spPr>
          <a:xfrm>
            <a:off x="6507327" y="2331720"/>
            <a:ext cx="566928" cy="566928"/>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descr="ic-plug-p.png"/>
          <p:cNvPicPr>
            <a:picLocks noChangeAspect="1"/>
          </p:cNvPicPr>
          <p:nvPr/>
        </p:nvPicPr>
        <p:blipFill>
          <a:blip r:embed="rId3"/>
          <a:stretch>
            <a:fillRect/>
          </a:stretch>
        </p:blipFill>
        <p:spPr>
          <a:xfrm>
            <a:off x="6632051" y="2456444"/>
            <a:ext cx="317479" cy="317479"/>
          </a:xfrm>
          <a:prstGeom prst="rect">
            <a:avLst/>
          </a:prstGeom>
        </p:spPr>
      </p:pic>
      <p:sp>
        <p:nvSpPr>
          <p:cNvPr id="14" name="card-head"/>
          <p:cNvSpPr txBox="1"/>
          <p:nvPr/>
        </p:nvSpPr>
        <p:spPr>
          <a:xfrm>
            <a:off x="7238847" y="2286000"/>
            <a:ext cx="4129887" cy="365760"/>
          </a:xfrm>
          <a:prstGeom prst="rect">
            <a:avLst/>
          </a:prstGeom>
          <a:noFill/>
        </p:spPr>
        <p:txBody>
          <a:bodyPr wrap="square" lIns="0" rIns="0" tIns="0" bIns="0" anchor="t">
            <a:noAutofit/>
          </a:bodyPr>
          <a:lstStyle/>
          <a:p>
            <a:pPr algn="l">
              <a:lnSpc>
                <a:spcPct val="110000"/>
              </a:lnSpc>
              <a:spcAft>
                <a:spcPts val="0"/>
              </a:spcAft>
            </a:pPr>
            <a:r>
              <a:rPr sz="1800" b="1">
                <a:solidFill>
                  <a:srgbClr val="1F1B2E"/>
                </a:solidFill>
                <a:latin typeface="Be Vietnam Pro"/>
              </a:rPr>
              <a:t>Ứng dụng WikiBox (wiki.urbox.dev)</a:t>
            </a:r>
          </a:p>
        </p:txBody>
      </p:sp>
      <p:sp>
        <p:nvSpPr>
          <p:cNvPr id="15" name="pill"/>
          <p:cNvSpPr/>
          <p:nvPr/>
        </p:nvSpPr>
        <p:spPr>
          <a:xfrm>
            <a:off x="7238847" y="2679192"/>
            <a:ext cx="1492300" cy="292608"/>
          </a:xfrm>
          <a:prstGeom prst="roundRect">
            <a:avLst>
              <a:gd name="adj" fmla="val 50000"/>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100" b="1">
                <a:solidFill>
                  <a:srgbClr val="1F1B2E"/>
                </a:solidFill>
                <a:latin typeface="Be Vietnam Pro"/>
              </a:rPr>
              <a:t>Ứng dụng riêng</a:t>
            </a:r>
          </a:p>
        </p:txBody>
      </p:sp>
      <p:sp>
        <p:nvSpPr>
          <p:cNvPr id="16" name="card-list"/>
          <p:cNvSpPr txBox="1"/>
          <p:nvPr/>
        </p:nvSpPr>
        <p:spPr>
          <a:xfrm>
            <a:off x="6507327" y="3200400"/>
            <a:ext cx="4861407" cy="1645920"/>
          </a:xfrm>
          <a:prstGeom prst="rect">
            <a:avLst/>
          </a:prstGeom>
          <a:noFill/>
        </p:spPr>
        <p:txBody>
          <a:bodyPr wrap="square" lIns="0" rIns="0" tIns="0" bIns="0" anchor="t">
            <a:noAutofit/>
          </a:bodyPr>
          <a:lstStyle/>
          <a:p>
            <a:pPr algn="l" marL="219456" indent="-219456">
              <a:lnSpc>
                <a:spcPct val="105000"/>
              </a:lnSpc>
              <a:spcAft>
                <a:spcPts val="900"/>
              </a:spcAft>
              <a:buClr>
                <a:srgbClr val="6821C2"/>
              </a:buClr>
              <a:buSzPct val="100000"/>
              <a:buFont typeface="Arial"/>
              <a:buChar char="•"/>
            </a:pPr>
            <a:r>
              <a:rPr sz="1400" b="0">
                <a:solidFill>
                  <a:srgbClr val="1F1B2E"/>
                </a:solidFill>
                <a:latin typeface="Be Vietnam Pro"/>
              </a:rPr>
              <a:t>Kho chính thức: sản phẩm, quy trình, chính sách</a:t>
            </a:r>
          </a:p>
          <a:p>
            <a:pPr algn="l" marL="219456" indent="-219456">
              <a:lnSpc>
                <a:spcPct val="105000"/>
              </a:lnSpc>
              <a:spcAft>
                <a:spcPts val="900"/>
              </a:spcAft>
              <a:buClr>
                <a:srgbClr val="6821C2"/>
              </a:buClr>
              <a:buSzPct val="100000"/>
              <a:buFont typeface="Arial"/>
              <a:buChar char="•"/>
            </a:pPr>
            <a:r>
              <a:rPr sz="1400" b="0">
                <a:solidFill>
                  <a:srgbClr val="1F1B2E"/>
                </a:solidFill>
                <a:latin typeface="Be Vietnam Pro"/>
              </a:rPr>
              <a:t>Mỗi người tự kết nối tài khoản WikiBox của mình</a:t>
            </a:r>
          </a:p>
          <a:p>
            <a:pPr algn="l" marL="219456" indent="-219456">
              <a:lnSpc>
                <a:spcPct val="105000"/>
              </a:lnSpc>
              <a:spcAft>
                <a:spcPts val="900"/>
              </a:spcAft>
              <a:buClr>
                <a:srgbClr val="6821C2"/>
              </a:buClr>
              <a:buSzPct val="100000"/>
              <a:buFont typeface="Arial"/>
              <a:buChar char="•"/>
            </a:pPr>
            <a:r>
              <a:rPr sz="1400" b="0">
                <a:solidFill>
                  <a:srgbClr val="1F1B2E"/>
                </a:solidFill>
                <a:latin typeface="Be Vietnam Pro"/>
              </a:rPr>
              <a:t>Chỉ đọc, đúng quyền xem của người đó trên WikiBox</a:t>
            </a:r>
          </a:p>
          <a:p>
            <a:pPr algn="l" marL="219456" indent="-219456">
              <a:lnSpc>
                <a:spcPct val="105000"/>
              </a:lnSpc>
              <a:spcAft>
                <a:spcPts val="900"/>
              </a:spcAft>
              <a:buClr>
                <a:srgbClr val="6821C2"/>
              </a:buClr>
              <a:buSzPct val="100000"/>
              <a:buFont typeface="Arial"/>
              <a:buChar char="•"/>
            </a:pPr>
            <a:r>
              <a:rPr sz="1400" b="0">
                <a:solidFill>
                  <a:srgbClr val="1F1B2E"/>
                </a:solidFill>
                <a:latin typeface="Be Vietnam Pro"/>
              </a:rPr>
              <a:t>Dùng cho trợ lý và Bảng BD (dấu U)</a:t>
            </a:r>
          </a:p>
        </p:txBody>
      </p:sp>
      <p:sp>
        <p:nvSpPr>
          <p:cNvPr id="17" name="where"/>
          <p:cNvSpPr/>
          <p:nvPr/>
        </p:nvSpPr>
        <p:spPr>
          <a:xfrm>
            <a:off x="548640" y="5120640"/>
            <a:ext cx="11094415" cy="960120"/>
          </a:xfrm>
          <a:prstGeom prst="roundRect">
            <a:avLst>
              <a:gd name="adj" fmla="val 17142"/>
            </a:avLst>
          </a:prstGeom>
          <a:solidFill>
            <a:srgbClr val="FFFFFF"/>
          </a:solidFill>
          <a:ln w="12700">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where-h"/>
          <p:cNvSpPr txBox="1"/>
          <p:nvPr/>
        </p:nvSpPr>
        <p:spPr>
          <a:xfrm>
            <a:off x="822959" y="5212080"/>
            <a:ext cx="1828800" cy="777240"/>
          </a:xfrm>
          <a:prstGeom prst="rect">
            <a:avLst/>
          </a:prstGeom>
          <a:noFill/>
        </p:spPr>
        <p:txBody>
          <a:bodyPr wrap="square" lIns="0" rIns="0" tIns="0" bIns="0" anchor="ctr">
            <a:noAutofit/>
          </a:bodyPr>
          <a:lstStyle/>
          <a:p>
            <a:pPr algn="l">
              <a:lnSpc>
                <a:spcPct val="110000"/>
              </a:lnSpc>
              <a:spcAft>
                <a:spcPts val="0"/>
              </a:spcAft>
            </a:pPr>
            <a:r>
              <a:rPr sz="1600" b="1">
                <a:solidFill>
                  <a:srgbClr val="6821C2"/>
                </a:solidFill>
                <a:latin typeface="Be Vietnam Pro"/>
              </a:rPr>
              <a:t>Để ở đâu?</a:t>
            </a:r>
          </a:p>
        </p:txBody>
      </p:sp>
      <p:sp>
        <p:nvSpPr>
          <p:cNvPr id="19" name="where-a"/>
          <p:cNvSpPr txBox="1"/>
          <p:nvPr/>
        </p:nvSpPr>
        <p:spPr>
          <a:xfrm>
            <a:off x="2331720" y="5212080"/>
            <a:ext cx="4480560" cy="777240"/>
          </a:xfrm>
          <a:prstGeom prst="rect">
            <a:avLst/>
          </a:prstGeom>
          <a:noFill/>
        </p:spPr>
        <p:txBody>
          <a:bodyPr wrap="square" lIns="0" rIns="0" tIns="0" bIns="0" anchor="ctr">
            <a:noAutofit/>
          </a:bodyPr>
          <a:lstStyle/>
          <a:p>
            <a:pPr algn="l">
              <a:lnSpc>
                <a:spcPct val="105000"/>
              </a:lnSpc>
              <a:spcAft>
                <a:spcPts val="0"/>
              </a:spcAft>
            </a:pPr>
            <a:r>
              <a:rPr sz="1400" b="0">
                <a:solidFill>
                  <a:srgbClr val="1F1B2E"/>
                </a:solidFill>
                <a:latin typeface="Be Vietnam Pro"/>
              </a:rPr>
              <a:t>Riêng của nhóm hoặc của một khách (giá riêng, điều khoản, JD) → </a:t>
            </a:r>
            <a:r>
              <a:rPr sz="1400" b="1">
                <a:solidFill>
                  <a:srgbClr val="1F1B2E"/>
                </a:solidFill>
                <a:latin typeface="Be Vietnam Pro"/>
              </a:rPr>
              <a:t>tài liệu của nhóm</a:t>
            </a:r>
          </a:p>
        </p:txBody>
      </p:sp>
      <p:sp>
        <p:nvSpPr>
          <p:cNvPr id="20" name="where-b"/>
          <p:cNvSpPr txBox="1"/>
          <p:nvPr/>
        </p:nvSpPr>
        <p:spPr>
          <a:xfrm>
            <a:off x="6995160" y="5212080"/>
            <a:ext cx="4526280" cy="777240"/>
          </a:xfrm>
          <a:prstGeom prst="rect">
            <a:avLst/>
          </a:prstGeom>
          <a:noFill/>
        </p:spPr>
        <p:txBody>
          <a:bodyPr wrap="square" lIns="0" rIns="0" tIns="0" bIns="0" anchor="ctr">
            <a:noAutofit/>
          </a:bodyPr>
          <a:lstStyle/>
          <a:p>
            <a:pPr algn="l">
              <a:lnSpc>
                <a:spcPct val="105000"/>
              </a:lnSpc>
              <a:spcAft>
                <a:spcPts val="0"/>
              </a:spcAft>
            </a:pPr>
            <a:r>
              <a:rPr sz="1400" b="0">
                <a:solidFill>
                  <a:srgbClr val="1F1B2E"/>
                </a:solidFill>
                <a:latin typeface="Be Vietnam Pro"/>
              </a:rPr>
              <a:t>Chung cả công ty, cần một bản chuẩn → </a:t>
            </a:r>
            <a:r>
              <a:rPr sz="1400" b="1">
                <a:solidFill>
                  <a:srgbClr val="1F1B2E"/>
                </a:solidFill>
                <a:latin typeface="Be Vietnam Pro"/>
              </a:rPr>
              <a:t>WikiBox</a:t>
            </a:r>
            <a:r>
              <a:rPr sz="1400" b="0">
                <a:solidFill>
                  <a:srgbClr val="1F1B2E"/>
                </a:solidFill>
                <a:latin typeface="Be Vietnam Pro"/>
              </a:rPr>
              <a:t>, không tải bản sao vào Copilot</a:t>
            </a:r>
          </a:p>
        </p:txBody>
      </p:sp>
      <p:pic>
        <p:nvPicPr>
          <p:cNvPr id="21" name="logo" descr="logo-purple.png"/>
          <p:cNvPicPr>
            <a:picLocks noChangeAspect="1"/>
          </p:cNvPicPr>
          <p:nvPr/>
        </p:nvPicPr>
        <p:blipFill>
          <a:blip r:embed="rId4"/>
          <a:stretch>
            <a:fillRect/>
          </a:stretch>
        </p:blipFill>
        <p:spPr>
          <a:xfrm>
            <a:off x="548640" y="6382512"/>
            <a:ext cx="850392" cy="237744"/>
          </a:xfrm>
          <a:prstGeom prst="rect">
            <a:avLst/>
          </a:prstGeom>
        </p:spPr>
      </p:pic>
      <p:sp>
        <p:nvSpPr>
          <p:cNvPr id="22"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23"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2445105"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2 · Nguyên tắc thiết kế</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WikiBox là ứng dụng hỗ trợ, không gộp vào Copilot</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Hai ứng dụng độc lập, nối với nhau qua một cổng chỉ đọc, để nội dung không chồng chéo</a:t>
            </a:r>
          </a:p>
        </p:txBody>
      </p:sp>
      <p:sp>
        <p:nvSpPr>
          <p:cNvPr id="5" name="copilot"/>
          <p:cNvSpPr/>
          <p:nvPr/>
        </p:nvSpPr>
        <p:spPr>
          <a:xfrm>
            <a:off x="548640" y="2103120"/>
            <a:ext cx="4160520" cy="1627632"/>
          </a:xfrm>
          <a:prstGeom prst="roundRect">
            <a:avLst>
              <a:gd name="adj" fmla="val 11235"/>
            </a:avLst>
          </a:prstGeom>
          <a:solidFill>
            <a:srgbClr val="682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copilot-h"/>
          <p:cNvSpPr txBox="1"/>
          <p:nvPr/>
        </p:nvSpPr>
        <p:spPr>
          <a:xfrm>
            <a:off x="822959" y="2267712"/>
            <a:ext cx="3611879" cy="384048"/>
          </a:xfrm>
          <a:prstGeom prst="rect">
            <a:avLst/>
          </a:prstGeom>
          <a:noFill/>
        </p:spPr>
        <p:txBody>
          <a:bodyPr wrap="square" lIns="0" rIns="0" tIns="0" bIns="0" anchor="t">
            <a:noAutofit/>
          </a:bodyPr>
          <a:lstStyle/>
          <a:p>
            <a:pPr algn="l">
              <a:lnSpc>
                <a:spcPct val="110000"/>
              </a:lnSpc>
              <a:spcAft>
                <a:spcPts val="0"/>
              </a:spcAft>
            </a:pPr>
            <a:r>
              <a:rPr sz="1800" b="1">
                <a:solidFill>
                  <a:srgbClr val="FFFFFF"/>
                </a:solidFill>
                <a:latin typeface="Be Vietnam Pro"/>
              </a:rPr>
              <a:t>UrBox Meeting Copilot</a:t>
            </a:r>
          </a:p>
        </p:txBody>
      </p:sp>
      <p:sp>
        <p:nvSpPr>
          <p:cNvPr id="7" name="copilot-list"/>
          <p:cNvSpPr txBox="1"/>
          <p:nvPr/>
        </p:nvSpPr>
        <p:spPr>
          <a:xfrm>
            <a:off x="822959" y="2706624"/>
            <a:ext cx="3611879" cy="960120"/>
          </a:xfrm>
          <a:prstGeom prst="rect">
            <a:avLst/>
          </a:prstGeom>
          <a:noFill/>
        </p:spPr>
        <p:txBody>
          <a:bodyPr wrap="square" lIns="0" rIns="0" tIns="0" bIns="0" anchor="t">
            <a:noAutofit/>
          </a:bodyPr>
          <a:lstStyle/>
          <a:p>
            <a:pPr algn="l">
              <a:lnSpc>
                <a:spcPct val="105000"/>
              </a:lnSpc>
              <a:spcAft>
                <a:spcPts val="200"/>
              </a:spcAft>
            </a:pPr>
            <a:r>
              <a:rPr sz="1350" b="0">
                <a:solidFill>
                  <a:srgbClr val="E9DDFB"/>
                </a:solidFill>
                <a:latin typeface="Be Vietnam Pro"/>
              </a:rPr>
              <a:t>Cuộc họp, lời thoại, biên bản</a:t>
            </a:r>
          </a:p>
          <a:p>
            <a:pPr algn="l">
              <a:lnSpc>
                <a:spcPct val="105000"/>
              </a:lnSpc>
              <a:spcAft>
                <a:spcPts val="200"/>
              </a:spcAft>
            </a:pPr>
            <a:r>
              <a:rPr sz="1350" b="0">
                <a:solidFill>
                  <a:srgbClr val="E9DDFB"/>
                </a:solidFill>
                <a:latin typeface="Be Vietnam Pro"/>
              </a:rPr>
              <a:t>Tài liệu riêng của nhóm</a:t>
            </a:r>
          </a:p>
          <a:p>
            <a:pPr algn="l">
              <a:lnSpc>
                <a:spcPct val="105000"/>
              </a:lnSpc>
              <a:spcAft>
                <a:spcPts val="200"/>
              </a:spcAft>
            </a:pPr>
            <a:r>
              <a:rPr sz="1350" b="0">
                <a:solidFill>
                  <a:srgbClr val="E9DDFB"/>
                </a:solidFill>
                <a:latin typeface="Be Vietnam Pro"/>
              </a:rPr>
              <a:t>Nhóm, phân quyền, mẫu giọng</a:t>
            </a:r>
          </a:p>
        </p:txBody>
      </p:sp>
      <p:sp>
        <p:nvSpPr>
          <p:cNvPr id="8" name="wikibox"/>
          <p:cNvSpPr/>
          <p:nvPr/>
        </p:nvSpPr>
        <p:spPr>
          <a:xfrm>
            <a:off x="7482535" y="2103120"/>
            <a:ext cx="4160520" cy="1627632"/>
          </a:xfrm>
          <a:prstGeom prst="roundRect">
            <a:avLst>
              <a:gd name="adj" fmla="val 11235"/>
            </a:avLst>
          </a:prstGeom>
          <a:solidFill>
            <a:srgbClr val="FFFFFF"/>
          </a:solidFill>
          <a:ln w="19050">
            <a:solidFill>
              <a:srgbClr val="6821C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wikibox-h"/>
          <p:cNvSpPr txBox="1"/>
          <p:nvPr/>
        </p:nvSpPr>
        <p:spPr>
          <a:xfrm>
            <a:off x="7756855" y="2267712"/>
            <a:ext cx="3611879" cy="384048"/>
          </a:xfrm>
          <a:prstGeom prst="rect">
            <a:avLst/>
          </a:prstGeom>
          <a:noFill/>
        </p:spPr>
        <p:txBody>
          <a:bodyPr wrap="square" lIns="0" rIns="0" tIns="0" bIns="0" anchor="t">
            <a:noAutofit/>
          </a:bodyPr>
          <a:lstStyle/>
          <a:p>
            <a:pPr algn="l">
              <a:lnSpc>
                <a:spcPct val="110000"/>
              </a:lnSpc>
              <a:spcAft>
                <a:spcPts val="0"/>
              </a:spcAft>
            </a:pPr>
            <a:r>
              <a:rPr sz="1800" b="1">
                <a:solidFill>
                  <a:srgbClr val="6821C2"/>
                </a:solidFill>
                <a:latin typeface="Be Vietnam Pro"/>
              </a:rPr>
              <a:t>Ứng dụng WikiBox</a:t>
            </a:r>
          </a:p>
        </p:txBody>
      </p:sp>
      <p:sp>
        <p:nvSpPr>
          <p:cNvPr id="10" name="wikibox-list"/>
          <p:cNvSpPr txBox="1"/>
          <p:nvPr/>
        </p:nvSpPr>
        <p:spPr>
          <a:xfrm>
            <a:off x="7756855" y="2706624"/>
            <a:ext cx="3611879" cy="960120"/>
          </a:xfrm>
          <a:prstGeom prst="rect">
            <a:avLst/>
          </a:prstGeom>
          <a:noFill/>
        </p:spPr>
        <p:txBody>
          <a:bodyPr wrap="square" lIns="0" rIns="0" tIns="0" bIns="0" anchor="t">
            <a:noAutofit/>
          </a:bodyPr>
          <a:lstStyle/>
          <a:p>
            <a:pPr algn="l">
              <a:lnSpc>
                <a:spcPct val="105000"/>
              </a:lnSpc>
              <a:spcAft>
                <a:spcPts val="200"/>
              </a:spcAft>
            </a:pPr>
            <a:r>
              <a:rPr sz="1350" b="0">
                <a:solidFill>
                  <a:srgbClr val="5F5A73"/>
                </a:solidFill>
                <a:latin typeface="Be Vietnam Pro"/>
              </a:rPr>
              <a:t>wiki.urbox.dev</a:t>
            </a:r>
          </a:p>
          <a:p>
            <a:pPr algn="l">
              <a:lnSpc>
                <a:spcPct val="105000"/>
              </a:lnSpc>
              <a:spcAft>
                <a:spcPts val="200"/>
              </a:spcAft>
            </a:pPr>
            <a:r>
              <a:rPr sz="1350" b="0">
                <a:solidFill>
                  <a:srgbClr val="5F5A73"/>
                </a:solidFill>
                <a:latin typeface="Be Vietnam Pro"/>
              </a:rPr>
              <a:t>Sản phẩm, quy trình, chính sách</a:t>
            </a:r>
          </a:p>
          <a:p>
            <a:pPr algn="l">
              <a:lnSpc>
                <a:spcPct val="105000"/>
              </a:lnSpc>
              <a:spcAft>
                <a:spcPts val="200"/>
              </a:spcAft>
            </a:pPr>
            <a:r>
              <a:rPr sz="1350" b="0">
                <a:solidFill>
                  <a:srgbClr val="5F5A73"/>
                </a:solidFill>
                <a:latin typeface="Be Vietnam Pro"/>
              </a:rPr>
              <a:t>Do các phòng ban tự cập nhật</a:t>
            </a:r>
          </a:p>
        </p:txBody>
      </p:sp>
      <p:sp>
        <p:nvSpPr>
          <p:cNvPr id="11" name="gate"/>
          <p:cNvSpPr txBox="1"/>
          <p:nvPr/>
        </p:nvSpPr>
        <p:spPr>
          <a:xfrm>
            <a:off x="4892040" y="2194560"/>
            <a:ext cx="2407615" cy="310896"/>
          </a:xfrm>
          <a:prstGeom prst="rect">
            <a:avLst/>
          </a:prstGeom>
          <a:noFill/>
        </p:spPr>
        <p:txBody>
          <a:bodyPr wrap="square" lIns="0" rIns="0" tIns="0" bIns="0" anchor="t">
            <a:noAutofit/>
          </a:bodyPr>
          <a:lstStyle/>
          <a:p>
            <a:pPr algn="ctr">
              <a:lnSpc>
                <a:spcPct val="110000"/>
              </a:lnSpc>
              <a:spcAft>
                <a:spcPts val="0"/>
              </a:spcAft>
            </a:pPr>
            <a:r>
              <a:rPr sz="1400" b="1">
                <a:solidFill>
                  <a:srgbClr val="6821C2"/>
                </a:solidFill>
                <a:latin typeface="Be Vietnam Pro"/>
              </a:rPr>
              <a:t>Cổng MCP</a:t>
            </a:r>
          </a:p>
        </p:txBody>
      </p:sp>
      <p:sp>
        <p:nvSpPr>
          <p:cNvPr id="12" name="arrow"/>
          <p:cNvSpPr/>
          <p:nvPr/>
        </p:nvSpPr>
        <p:spPr>
          <a:xfrm>
            <a:off x="4983479" y="2606039"/>
            <a:ext cx="2224735" cy="457200"/>
          </a:xfrm>
          <a:prstGeom prst="leftRightArrow">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gate-sub"/>
          <p:cNvSpPr txBox="1"/>
          <p:nvPr/>
        </p:nvSpPr>
        <p:spPr>
          <a:xfrm>
            <a:off x="4892040" y="3154679"/>
            <a:ext cx="2407615" cy="548640"/>
          </a:xfrm>
          <a:prstGeom prst="rect">
            <a:avLst/>
          </a:prstGeom>
          <a:noFill/>
        </p:spPr>
        <p:txBody>
          <a:bodyPr wrap="square" lIns="0" rIns="0" tIns="0" bIns="0" anchor="t">
            <a:noAutofit/>
          </a:bodyPr>
          <a:lstStyle/>
          <a:p>
            <a:pPr algn="ctr">
              <a:lnSpc>
                <a:spcPct val="100000"/>
              </a:lnSpc>
              <a:spcAft>
                <a:spcPts val="0"/>
              </a:spcAft>
            </a:pPr>
            <a:r>
              <a:rPr sz="1200" b="0">
                <a:solidFill>
                  <a:srgbClr val="5F5A73"/>
                </a:solidFill>
                <a:latin typeface="Be Vietnam Pro"/>
              </a:rPr>
              <a:t>chỉ đọc · theo quyền từng người</a:t>
            </a:r>
          </a:p>
        </p:txBody>
      </p:sp>
      <p:sp>
        <p:nvSpPr>
          <p:cNvPr id="14" name="badge"/>
          <p:cNvSpPr/>
          <p:nvPr/>
        </p:nvSpPr>
        <p:spPr>
          <a:xfrm>
            <a:off x="548640" y="3977640"/>
            <a:ext cx="329184" cy="329184"/>
          </a:xfrm>
          <a:prstGeom prst="ellipse">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1</a:t>
            </a:r>
          </a:p>
        </p:txBody>
      </p:sp>
      <p:sp>
        <p:nvSpPr>
          <p:cNvPr id="15" name="rule-h"/>
          <p:cNvSpPr txBox="1"/>
          <p:nvPr/>
        </p:nvSpPr>
        <p:spPr>
          <a:xfrm>
            <a:off x="1051560" y="3950208"/>
            <a:ext cx="2971800" cy="384048"/>
          </a:xfrm>
          <a:prstGeom prst="rect">
            <a:avLst/>
          </a:prstGeom>
          <a:noFill/>
        </p:spPr>
        <p:txBody>
          <a:bodyPr wrap="square" lIns="0" rIns="0" tIns="0" bIns="0" anchor="ctr">
            <a:noAutofit/>
          </a:bodyPr>
          <a:lstStyle/>
          <a:p>
            <a:pPr algn="l">
              <a:lnSpc>
                <a:spcPct val="110000"/>
              </a:lnSpc>
              <a:spcAft>
                <a:spcPts val="0"/>
              </a:spcAft>
            </a:pPr>
            <a:r>
              <a:rPr sz="1450" b="1">
                <a:solidFill>
                  <a:srgbClr val="1F1B2E"/>
                </a:solidFill>
                <a:latin typeface="Be Vietnam Pro"/>
              </a:rPr>
              <a:t>Một chiều, chỉ đọc</a:t>
            </a:r>
          </a:p>
        </p:txBody>
      </p:sp>
      <p:sp>
        <p:nvSpPr>
          <p:cNvPr id="16" name="rule-t"/>
          <p:cNvSpPr txBox="1"/>
          <p:nvPr/>
        </p:nvSpPr>
        <p:spPr>
          <a:xfrm>
            <a:off x="4069080" y="3950208"/>
            <a:ext cx="7573975" cy="384048"/>
          </a:xfrm>
          <a:prstGeom prst="rect">
            <a:avLst/>
          </a:prstGeom>
          <a:noFill/>
        </p:spPr>
        <p:txBody>
          <a:bodyPr wrap="square" lIns="0" rIns="0" tIns="0" bIns="0" anchor="ctr">
            <a:noAutofit/>
          </a:bodyPr>
          <a:lstStyle/>
          <a:p>
            <a:pPr algn="l">
              <a:lnSpc>
                <a:spcPct val="110000"/>
              </a:lnSpc>
              <a:spcAft>
                <a:spcPts val="0"/>
              </a:spcAft>
            </a:pPr>
            <a:r>
              <a:rPr sz="1400" b="0">
                <a:solidFill>
                  <a:srgbClr val="5F5A73"/>
                </a:solidFill>
                <a:latin typeface="Be Vietnam Pro"/>
              </a:rPr>
              <a:t>Copilot không thêm, sửa, xóa gì trên WikiBox và không ghi dữ liệu họp sang đó</a:t>
            </a:r>
          </a:p>
        </p:txBody>
      </p:sp>
      <p:sp>
        <p:nvSpPr>
          <p:cNvPr id="17" name="badge"/>
          <p:cNvSpPr/>
          <p:nvPr/>
        </p:nvSpPr>
        <p:spPr>
          <a:xfrm>
            <a:off x="548640" y="4434840"/>
            <a:ext cx="329184" cy="329184"/>
          </a:xfrm>
          <a:prstGeom prst="ellipse">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2</a:t>
            </a:r>
          </a:p>
        </p:txBody>
      </p:sp>
      <p:sp>
        <p:nvSpPr>
          <p:cNvPr id="18" name="rule-h"/>
          <p:cNvSpPr txBox="1"/>
          <p:nvPr/>
        </p:nvSpPr>
        <p:spPr>
          <a:xfrm>
            <a:off x="1051560" y="4407408"/>
            <a:ext cx="2971800" cy="384048"/>
          </a:xfrm>
          <a:prstGeom prst="rect">
            <a:avLst/>
          </a:prstGeom>
          <a:noFill/>
        </p:spPr>
        <p:txBody>
          <a:bodyPr wrap="square" lIns="0" rIns="0" tIns="0" bIns="0" anchor="ctr">
            <a:noAutofit/>
          </a:bodyPr>
          <a:lstStyle/>
          <a:p>
            <a:pPr algn="l">
              <a:lnSpc>
                <a:spcPct val="110000"/>
              </a:lnSpc>
              <a:spcAft>
                <a:spcPts val="0"/>
              </a:spcAft>
            </a:pPr>
            <a:r>
              <a:rPr sz="1450" b="1">
                <a:solidFill>
                  <a:srgbClr val="1F1B2E"/>
                </a:solidFill>
                <a:latin typeface="Be Vietnam Pro"/>
              </a:rPr>
              <a:t>Không sao chép</a:t>
            </a:r>
          </a:p>
        </p:txBody>
      </p:sp>
      <p:sp>
        <p:nvSpPr>
          <p:cNvPr id="19" name="rule-t"/>
          <p:cNvSpPr txBox="1"/>
          <p:nvPr/>
        </p:nvSpPr>
        <p:spPr>
          <a:xfrm>
            <a:off x="4069080" y="4407408"/>
            <a:ext cx="7573975" cy="384048"/>
          </a:xfrm>
          <a:prstGeom prst="rect">
            <a:avLst/>
          </a:prstGeom>
          <a:noFill/>
        </p:spPr>
        <p:txBody>
          <a:bodyPr wrap="square" lIns="0" rIns="0" tIns="0" bIns="0" anchor="ctr">
            <a:noAutofit/>
          </a:bodyPr>
          <a:lstStyle/>
          <a:p>
            <a:pPr algn="l">
              <a:lnSpc>
                <a:spcPct val="110000"/>
              </a:lnSpc>
              <a:spcAft>
                <a:spcPts val="0"/>
              </a:spcAft>
            </a:pPr>
            <a:r>
              <a:rPr sz="1400" b="0">
                <a:solidFill>
                  <a:srgbClr val="5F5A73"/>
                </a:solidFill>
                <a:latin typeface="Be Vietnam Pro"/>
              </a:rPr>
              <a:t>Hỏi lúc nào đọc lúc đó nên luôn là bản mới nhất, không có bản cũ nằm trong Copilot</a:t>
            </a:r>
          </a:p>
        </p:txBody>
      </p:sp>
      <p:sp>
        <p:nvSpPr>
          <p:cNvPr id="20" name="badge"/>
          <p:cNvSpPr/>
          <p:nvPr/>
        </p:nvSpPr>
        <p:spPr>
          <a:xfrm>
            <a:off x="548640" y="4892040"/>
            <a:ext cx="329184" cy="329184"/>
          </a:xfrm>
          <a:prstGeom prst="ellipse">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3</a:t>
            </a:r>
          </a:p>
        </p:txBody>
      </p:sp>
      <p:sp>
        <p:nvSpPr>
          <p:cNvPr id="21" name="rule-h"/>
          <p:cNvSpPr txBox="1"/>
          <p:nvPr/>
        </p:nvSpPr>
        <p:spPr>
          <a:xfrm>
            <a:off x="1051560" y="4864608"/>
            <a:ext cx="2971800" cy="384048"/>
          </a:xfrm>
          <a:prstGeom prst="rect">
            <a:avLst/>
          </a:prstGeom>
          <a:noFill/>
        </p:spPr>
        <p:txBody>
          <a:bodyPr wrap="square" lIns="0" rIns="0" tIns="0" bIns="0" anchor="ctr">
            <a:noAutofit/>
          </a:bodyPr>
          <a:lstStyle/>
          <a:p>
            <a:pPr algn="l">
              <a:lnSpc>
                <a:spcPct val="110000"/>
              </a:lnSpc>
              <a:spcAft>
                <a:spcPts val="0"/>
              </a:spcAft>
            </a:pPr>
            <a:r>
              <a:rPr sz="1450" b="1">
                <a:solidFill>
                  <a:srgbClr val="1F1B2E"/>
                </a:solidFill>
                <a:latin typeface="Be Vietnam Pro"/>
              </a:rPr>
              <a:t>Mỗi nguồn một dấu</a:t>
            </a:r>
          </a:p>
        </p:txBody>
      </p:sp>
      <p:sp>
        <p:nvSpPr>
          <p:cNvPr id="22" name="rule-t"/>
          <p:cNvSpPr txBox="1"/>
          <p:nvPr/>
        </p:nvSpPr>
        <p:spPr>
          <a:xfrm>
            <a:off x="4069080" y="4864608"/>
            <a:ext cx="7573975" cy="384048"/>
          </a:xfrm>
          <a:prstGeom prst="rect">
            <a:avLst/>
          </a:prstGeom>
          <a:noFill/>
        </p:spPr>
        <p:txBody>
          <a:bodyPr wrap="square" lIns="0" rIns="0" tIns="0" bIns="0" anchor="ctr">
            <a:noAutofit/>
          </a:bodyPr>
          <a:lstStyle/>
          <a:p>
            <a:pPr algn="l">
              <a:lnSpc>
                <a:spcPct val="110000"/>
              </a:lnSpc>
              <a:spcAft>
                <a:spcPts val="0"/>
              </a:spcAft>
            </a:pPr>
            <a:r>
              <a:rPr sz="1400" b="0">
                <a:solidFill>
                  <a:srgbClr val="5F5A73"/>
                </a:solidFill>
                <a:latin typeface="Be Vietnam Pro"/>
              </a:rPr>
              <a:t>K tài liệu nhóm, M cuộc họp trước, U WikiBox: người nghe biết thông tin từ đâu</a:t>
            </a:r>
          </a:p>
        </p:txBody>
      </p:sp>
      <p:sp>
        <p:nvSpPr>
          <p:cNvPr id="23" name="badge"/>
          <p:cNvSpPr/>
          <p:nvPr/>
        </p:nvSpPr>
        <p:spPr>
          <a:xfrm>
            <a:off x="548640" y="5349240"/>
            <a:ext cx="329184" cy="329184"/>
          </a:xfrm>
          <a:prstGeom prst="ellipse">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4</a:t>
            </a:r>
          </a:p>
        </p:txBody>
      </p:sp>
      <p:sp>
        <p:nvSpPr>
          <p:cNvPr id="24" name="rule-h"/>
          <p:cNvSpPr txBox="1"/>
          <p:nvPr/>
        </p:nvSpPr>
        <p:spPr>
          <a:xfrm>
            <a:off x="1051560" y="5321808"/>
            <a:ext cx="2971800" cy="384048"/>
          </a:xfrm>
          <a:prstGeom prst="rect">
            <a:avLst/>
          </a:prstGeom>
          <a:noFill/>
        </p:spPr>
        <p:txBody>
          <a:bodyPr wrap="square" lIns="0" rIns="0" tIns="0" bIns="0" anchor="ctr">
            <a:noAutofit/>
          </a:bodyPr>
          <a:lstStyle/>
          <a:p>
            <a:pPr algn="l">
              <a:lnSpc>
                <a:spcPct val="110000"/>
              </a:lnSpc>
              <a:spcAft>
                <a:spcPts val="0"/>
              </a:spcAft>
            </a:pPr>
            <a:r>
              <a:rPr sz="1450" b="1">
                <a:solidFill>
                  <a:srgbClr val="1F1B2E"/>
                </a:solidFill>
                <a:latin typeface="Be Vietnam Pro"/>
              </a:rPr>
              <a:t>Khi hai nguồn khác nhau</a:t>
            </a:r>
          </a:p>
        </p:txBody>
      </p:sp>
      <p:sp>
        <p:nvSpPr>
          <p:cNvPr id="25" name="rule-t"/>
          <p:cNvSpPr txBox="1"/>
          <p:nvPr/>
        </p:nvSpPr>
        <p:spPr>
          <a:xfrm>
            <a:off x="4069080" y="5321808"/>
            <a:ext cx="7573975" cy="384048"/>
          </a:xfrm>
          <a:prstGeom prst="rect">
            <a:avLst/>
          </a:prstGeom>
          <a:noFill/>
        </p:spPr>
        <p:txBody>
          <a:bodyPr wrap="square" lIns="0" rIns="0" tIns="0" bIns="0" anchor="ctr">
            <a:noAutofit/>
          </a:bodyPr>
          <a:lstStyle/>
          <a:p>
            <a:pPr algn="l">
              <a:lnSpc>
                <a:spcPct val="110000"/>
              </a:lnSpc>
              <a:spcAft>
                <a:spcPts val="0"/>
              </a:spcAft>
            </a:pPr>
            <a:r>
              <a:rPr sz="1400" b="0">
                <a:solidFill>
                  <a:srgbClr val="5F5A73"/>
                </a:solidFill>
                <a:latin typeface="Be Vietnam Pro"/>
              </a:rPr>
              <a:t>Giá, điều khoản riêng cho khách theo K; kiến thức chung theo U; chỗ khác ghi cho đội</a:t>
            </a:r>
          </a:p>
        </p:txBody>
      </p:sp>
      <p:sp>
        <p:nvSpPr>
          <p:cNvPr id="26" name="badge"/>
          <p:cNvSpPr/>
          <p:nvPr/>
        </p:nvSpPr>
        <p:spPr>
          <a:xfrm>
            <a:off x="548640" y="5806440"/>
            <a:ext cx="329184" cy="329184"/>
          </a:xfrm>
          <a:prstGeom prst="ellipse">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5</a:t>
            </a:r>
          </a:p>
        </p:txBody>
      </p:sp>
      <p:sp>
        <p:nvSpPr>
          <p:cNvPr id="27" name="rule-h"/>
          <p:cNvSpPr txBox="1"/>
          <p:nvPr/>
        </p:nvSpPr>
        <p:spPr>
          <a:xfrm>
            <a:off x="1051560" y="5779008"/>
            <a:ext cx="2971800" cy="384048"/>
          </a:xfrm>
          <a:prstGeom prst="rect">
            <a:avLst/>
          </a:prstGeom>
          <a:noFill/>
        </p:spPr>
        <p:txBody>
          <a:bodyPr wrap="square" lIns="0" rIns="0" tIns="0" bIns="0" anchor="ctr">
            <a:noAutofit/>
          </a:bodyPr>
          <a:lstStyle/>
          <a:p>
            <a:pPr algn="l">
              <a:lnSpc>
                <a:spcPct val="110000"/>
              </a:lnSpc>
              <a:spcAft>
                <a:spcPts val="0"/>
              </a:spcAft>
            </a:pPr>
            <a:r>
              <a:rPr sz="1450" b="1">
                <a:solidFill>
                  <a:srgbClr val="1F1B2E"/>
                </a:solidFill>
                <a:latin typeface="Be Vietnam Pro"/>
              </a:rPr>
              <a:t>Tách được bất cứ lúc nào</a:t>
            </a:r>
          </a:p>
        </p:txBody>
      </p:sp>
      <p:sp>
        <p:nvSpPr>
          <p:cNvPr id="28" name="rule-t"/>
          <p:cNvSpPr txBox="1"/>
          <p:nvPr/>
        </p:nvSpPr>
        <p:spPr>
          <a:xfrm>
            <a:off x="4069080" y="5779008"/>
            <a:ext cx="7573975" cy="384048"/>
          </a:xfrm>
          <a:prstGeom prst="rect">
            <a:avLst/>
          </a:prstGeom>
          <a:noFill/>
        </p:spPr>
        <p:txBody>
          <a:bodyPr wrap="square" lIns="0" rIns="0" tIns="0" bIns="0" anchor="ctr">
            <a:noAutofit/>
          </a:bodyPr>
          <a:lstStyle/>
          <a:p>
            <a:pPr algn="l">
              <a:lnSpc>
                <a:spcPct val="110000"/>
              </a:lnSpc>
              <a:spcAft>
                <a:spcPts val="0"/>
              </a:spcAft>
            </a:pPr>
            <a:r>
              <a:rPr sz="1400" b="0">
                <a:solidFill>
                  <a:srgbClr val="5F5A73"/>
                </a:solidFill>
                <a:latin typeface="Be Vietnam Pro"/>
              </a:rPr>
              <a:t>WikiBox chậm quá 8 giây hoặc ngắt kết nối thì Copilot vẫn chạy bằng nguồn còn lại</a:t>
            </a:r>
          </a:p>
        </p:txBody>
      </p:sp>
      <p:pic>
        <p:nvPicPr>
          <p:cNvPr id="29" name="logo" descr="logo-purple.png"/>
          <p:cNvPicPr>
            <a:picLocks noChangeAspect="1"/>
          </p:cNvPicPr>
          <p:nvPr/>
        </p:nvPicPr>
        <p:blipFill>
          <a:blip r:embed="rId2"/>
          <a:stretch>
            <a:fillRect/>
          </a:stretch>
        </p:blipFill>
        <p:spPr>
          <a:xfrm>
            <a:off x="548640" y="6382512"/>
            <a:ext cx="850392" cy="237744"/>
          </a:xfrm>
          <a:prstGeom prst="rect">
            <a:avLst/>
          </a:prstGeom>
        </p:spPr>
      </p:pic>
      <p:sp>
        <p:nvSpPr>
          <p:cNvPr id="30"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31"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2176272"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3 · Truy cập WikiBox</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Lấy dữ liệu từ WikiBox ngay trong buổi họp</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Trợ lý và Bảng BD tìm trên WikiBox bằng tài khoản của người tạo cuộc họp</a:t>
            </a:r>
          </a:p>
        </p:txBody>
      </p:sp>
      <p:sp>
        <p:nvSpPr>
          <p:cNvPr id="5" name="step"/>
          <p:cNvSpPr/>
          <p:nvPr/>
        </p:nvSpPr>
        <p:spPr>
          <a:xfrm>
            <a:off x="548640" y="2103120"/>
            <a:ext cx="2540431" cy="2011680"/>
          </a:xfrm>
          <a:prstGeom prst="roundRect">
            <a:avLst>
              <a:gd name="adj" fmla="val 909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adge"/>
          <p:cNvSpPr/>
          <p:nvPr/>
        </p:nvSpPr>
        <p:spPr>
          <a:xfrm>
            <a:off x="777240" y="2286000"/>
            <a:ext cx="365760" cy="365760"/>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1</a:t>
            </a:r>
          </a:p>
        </p:txBody>
      </p:sp>
      <p:sp>
        <p:nvSpPr>
          <p:cNvPr id="7" name="tile"/>
          <p:cNvSpPr/>
          <p:nvPr/>
        </p:nvSpPr>
        <p:spPr>
          <a:xfrm>
            <a:off x="2357551" y="2240280"/>
            <a:ext cx="502920" cy="50292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icon" descr="ic-ask-p.png"/>
          <p:cNvPicPr>
            <a:picLocks noChangeAspect="1"/>
          </p:cNvPicPr>
          <p:nvPr/>
        </p:nvPicPr>
        <p:blipFill>
          <a:blip r:embed="rId2"/>
          <a:stretch>
            <a:fillRect/>
          </a:stretch>
        </p:blipFill>
        <p:spPr>
          <a:xfrm>
            <a:off x="2468194" y="2350922"/>
            <a:ext cx="281635" cy="281635"/>
          </a:xfrm>
          <a:prstGeom prst="rect">
            <a:avLst/>
          </a:prstGeom>
        </p:spPr>
      </p:pic>
      <p:sp>
        <p:nvSpPr>
          <p:cNvPr id="9" name="step-h"/>
          <p:cNvSpPr txBox="1"/>
          <p:nvPr/>
        </p:nvSpPr>
        <p:spPr>
          <a:xfrm>
            <a:off x="777240" y="2816352"/>
            <a:ext cx="2083231" cy="365760"/>
          </a:xfrm>
          <a:prstGeom prst="rect">
            <a:avLst/>
          </a:prstGeom>
          <a:noFill/>
        </p:spPr>
        <p:txBody>
          <a:bodyPr wrap="square" lIns="0" rIns="0" tIns="0" bIns="0" anchor="t">
            <a:noAutofit/>
          </a:bodyPr>
          <a:lstStyle/>
          <a:p>
            <a:pPr algn="l">
              <a:lnSpc>
                <a:spcPct val="110000"/>
              </a:lnSpc>
              <a:spcAft>
                <a:spcPts val="0"/>
              </a:spcAft>
            </a:pPr>
            <a:r>
              <a:rPr sz="1600" b="1">
                <a:solidFill>
                  <a:srgbClr val="1F1B2E"/>
                </a:solidFill>
                <a:latin typeface="Be Vietnam Pro"/>
              </a:rPr>
              <a:t>Hỏi</a:t>
            </a:r>
          </a:p>
        </p:txBody>
      </p:sp>
      <p:sp>
        <p:nvSpPr>
          <p:cNvPr id="10" name="step-t"/>
          <p:cNvSpPr txBox="1"/>
          <p:nvPr/>
        </p:nvSpPr>
        <p:spPr>
          <a:xfrm>
            <a:off x="777240" y="3182112"/>
            <a:ext cx="2128951" cy="896112"/>
          </a:xfrm>
          <a:prstGeom prst="rect">
            <a:avLst/>
          </a:prstGeom>
          <a:noFill/>
        </p:spPr>
        <p:txBody>
          <a:bodyPr wrap="square" lIns="0" rIns="0" tIns="0" bIns="0" anchor="t">
            <a:noAutofit/>
          </a:bodyPr>
          <a:lstStyle/>
          <a:p>
            <a:pPr algn="l">
              <a:lnSpc>
                <a:spcPct val="105000"/>
              </a:lnSpc>
              <a:spcAft>
                <a:spcPts val="0"/>
              </a:spcAft>
            </a:pPr>
            <a:r>
              <a:rPr sz="1350" b="0">
                <a:solidFill>
                  <a:srgbClr val="5F5A73"/>
                </a:solidFill>
                <a:latin typeface="Be Vietnam Pro"/>
              </a:rPr>
              <a:t>"UrBox ơi, chính sách đổi voucher là gì?" hoặc khách hỏi</a:t>
            </a:r>
          </a:p>
        </p:txBody>
      </p:sp>
      <p:sp>
        <p:nvSpPr>
          <p:cNvPr id="11" name="flow"/>
          <p:cNvSpPr/>
          <p:nvPr/>
        </p:nvSpPr>
        <p:spPr>
          <a:xfrm>
            <a:off x="3153079" y="2944368"/>
            <a:ext cx="182880" cy="329184"/>
          </a:xfrm>
          <a:prstGeom prst="rightArrow">
            <a:avLst/>
          </a:prstGeom>
          <a:solidFill>
            <a:srgbClr val="823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p"/>
          <p:cNvSpPr/>
          <p:nvPr/>
        </p:nvSpPr>
        <p:spPr>
          <a:xfrm>
            <a:off x="3399967" y="2103120"/>
            <a:ext cx="2540431" cy="2011680"/>
          </a:xfrm>
          <a:prstGeom prst="roundRect">
            <a:avLst>
              <a:gd name="adj" fmla="val 909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adge"/>
          <p:cNvSpPr/>
          <p:nvPr/>
        </p:nvSpPr>
        <p:spPr>
          <a:xfrm>
            <a:off x="3628567" y="2286000"/>
            <a:ext cx="365760" cy="365760"/>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2</a:t>
            </a:r>
          </a:p>
        </p:txBody>
      </p:sp>
      <p:sp>
        <p:nvSpPr>
          <p:cNvPr id="14" name="tile"/>
          <p:cNvSpPr/>
          <p:nvPr/>
        </p:nvSpPr>
        <p:spPr>
          <a:xfrm>
            <a:off x="5208879" y="2240280"/>
            <a:ext cx="502920" cy="50292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descr="ic-search-p.png"/>
          <p:cNvPicPr>
            <a:picLocks noChangeAspect="1"/>
          </p:cNvPicPr>
          <p:nvPr/>
        </p:nvPicPr>
        <p:blipFill>
          <a:blip r:embed="rId3"/>
          <a:stretch>
            <a:fillRect/>
          </a:stretch>
        </p:blipFill>
        <p:spPr>
          <a:xfrm>
            <a:off x="5319522" y="2350922"/>
            <a:ext cx="281635" cy="281635"/>
          </a:xfrm>
          <a:prstGeom prst="rect">
            <a:avLst/>
          </a:prstGeom>
        </p:spPr>
      </p:pic>
      <p:sp>
        <p:nvSpPr>
          <p:cNvPr id="16" name="step-h"/>
          <p:cNvSpPr txBox="1"/>
          <p:nvPr/>
        </p:nvSpPr>
        <p:spPr>
          <a:xfrm>
            <a:off x="3628567" y="2816352"/>
            <a:ext cx="2083231" cy="365760"/>
          </a:xfrm>
          <a:prstGeom prst="rect">
            <a:avLst/>
          </a:prstGeom>
          <a:noFill/>
        </p:spPr>
        <p:txBody>
          <a:bodyPr wrap="square" lIns="0" rIns="0" tIns="0" bIns="0" anchor="t">
            <a:noAutofit/>
          </a:bodyPr>
          <a:lstStyle/>
          <a:p>
            <a:pPr algn="l">
              <a:lnSpc>
                <a:spcPct val="110000"/>
              </a:lnSpc>
              <a:spcAft>
                <a:spcPts val="0"/>
              </a:spcAft>
            </a:pPr>
            <a:r>
              <a:rPr sz="1600" b="1">
                <a:solidFill>
                  <a:srgbClr val="1F1B2E"/>
                </a:solidFill>
                <a:latin typeface="Be Vietnam Pro"/>
              </a:rPr>
              <a:t>Tìm trên WikiBox</a:t>
            </a:r>
          </a:p>
        </p:txBody>
      </p:sp>
      <p:sp>
        <p:nvSpPr>
          <p:cNvPr id="17" name="step-t"/>
          <p:cNvSpPr txBox="1"/>
          <p:nvPr/>
        </p:nvSpPr>
        <p:spPr>
          <a:xfrm>
            <a:off x="3628567" y="3182112"/>
            <a:ext cx="2128951" cy="896112"/>
          </a:xfrm>
          <a:prstGeom prst="rect">
            <a:avLst/>
          </a:prstGeom>
          <a:noFill/>
        </p:spPr>
        <p:txBody>
          <a:bodyPr wrap="square" lIns="0" rIns="0" tIns="0" bIns="0" anchor="t">
            <a:noAutofit/>
          </a:bodyPr>
          <a:lstStyle/>
          <a:p>
            <a:pPr algn="l">
              <a:lnSpc>
                <a:spcPct val="105000"/>
              </a:lnSpc>
              <a:spcAft>
                <a:spcPts val="0"/>
              </a:spcAft>
            </a:pPr>
            <a:r>
              <a:rPr sz="1350" b="0">
                <a:solidFill>
                  <a:srgbClr val="5F5A73"/>
                </a:solidFill>
                <a:latin typeface="Be Vietnam Pro"/>
              </a:rPr>
              <a:t>Máy chủ Copilot tìm, cùng lúc với tài liệu nhóm và các buổi trước</a:t>
            </a:r>
          </a:p>
        </p:txBody>
      </p:sp>
      <p:sp>
        <p:nvSpPr>
          <p:cNvPr id="18" name="flow"/>
          <p:cNvSpPr/>
          <p:nvPr/>
        </p:nvSpPr>
        <p:spPr>
          <a:xfrm>
            <a:off x="6004407" y="2944368"/>
            <a:ext cx="182880" cy="329184"/>
          </a:xfrm>
          <a:prstGeom prst="rightArrow">
            <a:avLst/>
          </a:prstGeom>
          <a:solidFill>
            <a:srgbClr val="823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tep"/>
          <p:cNvSpPr/>
          <p:nvPr/>
        </p:nvSpPr>
        <p:spPr>
          <a:xfrm>
            <a:off x="6251295" y="2103120"/>
            <a:ext cx="2540431" cy="2011680"/>
          </a:xfrm>
          <a:prstGeom prst="roundRect">
            <a:avLst>
              <a:gd name="adj" fmla="val 909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adge"/>
          <p:cNvSpPr/>
          <p:nvPr/>
        </p:nvSpPr>
        <p:spPr>
          <a:xfrm>
            <a:off x="6479895" y="2286000"/>
            <a:ext cx="365760" cy="365760"/>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3</a:t>
            </a:r>
          </a:p>
        </p:txBody>
      </p:sp>
      <p:sp>
        <p:nvSpPr>
          <p:cNvPr id="21" name="tile"/>
          <p:cNvSpPr/>
          <p:nvPr/>
        </p:nvSpPr>
        <p:spPr>
          <a:xfrm>
            <a:off x="8060207" y="2240280"/>
            <a:ext cx="502920" cy="50292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descr="ic-spark-p.png"/>
          <p:cNvPicPr>
            <a:picLocks noChangeAspect="1"/>
          </p:cNvPicPr>
          <p:nvPr/>
        </p:nvPicPr>
        <p:blipFill>
          <a:blip r:embed="rId4"/>
          <a:stretch>
            <a:fillRect/>
          </a:stretch>
        </p:blipFill>
        <p:spPr>
          <a:xfrm>
            <a:off x="8170849" y="2350922"/>
            <a:ext cx="281635" cy="281635"/>
          </a:xfrm>
          <a:prstGeom prst="rect">
            <a:avLst/>
          </a:prstGeom>
        </p:spPr>
      </p:pic>
      <p:sp>
        <p:nvSpPr>
          <p:cNvPr id="23" name="step-h"/>
          <p:cNvSpPr txBox="1"/>
          <p:nvPr/>
        </p:nvSpPr>
        <p:spPr>
          <a:xfrm>
            <a:off x="6479895" y="2816352"/>
            <a:ext cx="2083231" cy="365760"/>
          </a:xfrm>
          <a:prstGeom prst="rect">
            <a:avLst/>
          </a:prstGeom>
          <a:noFill/>
        </p:spPr>
        <p:txBody>
          <a:bodyPr wrap="square" lIns="0" rIns="0" tIns="0" bIns="0" anchor="t">
            <a:noAutofit/>
          </a:bodyPr>
          <a:lstStyle/>
          <a:p>
            <a:pPr algn="l">
              <a:lnSpc>
                <a:spcPct val="110000"/>
              </a:lnSpc>
              <a:spcAft>
                <a:spcPts val="0"/>
              </a:spcAft>
            </a:pPr>
            <a:r>
              <a:rPr sz="1600" b="1">
                <a:solidFill>
                  <a:srgbClr val="1F1B2E"/>
                </a:solidFill>
                <a:latin typeface="Be Vietnam Pro"/>
              </a:rPr>
              <a:t>Trả lời có nguồn</a:t>
            </a:r>
          </a:p>
        </p:txBody>
      </p:sp>
      <p:sp>
        <p:nvSpPr>
          <p:cNvPr id="24" name="step-t"/>
          <p:cNvSpPr txBox="1"/>
          <p:nvPr/>
        </p:nvSpPr>
        <p:spPr>
          <a:xfrm>
            <a:off x="6479895" y="3182112"/>
            <a:ext cx="2128951" cy="896112"/>
          </a:xfrm>
          <a:prstGeom prst="rect">
            <a:avLst/>
          </a:prstGeom>
          <a:noFill/>
        </p:spPr>
        <p:txBody>
          <a:bodyPr wrap="square" lIns="0" rIns="0" tIns="0" bIns="0" anchor="t">
            <a:noAutofit/>
          </a:bodyPr>
          <a:lstStyle/>
          <a:p>
            <a:pPr algn="l">
              <a:lnSpc>
                <a:spcPct val="105000"/>
              </a:lnSpc>
              <a:spcAft>
                <a:spcPts val="0"/>
              </a:spcAft>
            </a:pPr>
            <a:r>
              <a:rPr sz="1350" b="0">
                <a:solidFill>
                  <a:srgbClr val="5F5A73"/>
                </a:solidFill>
                <a:latin typeface="Be Vietnam Pro"/>
              </a:rPr>
              <a:t>AI chỉ dùng đoạn tìm được, gắn U1, U2 sau từng ý</a:t>
            </a:r>
          </a:p>
        </p:txBody>
      </p:sp>
      <p:sp>
        <p:nvSpPr>
          <p:cNvPr id="25" name="flow"/>
          <p:cNvSpPr/>
          <p:nvPr/>
        </p:nvSpPr>
        <p:spPr>
          <a:xfrm>
            <a:off x="8855735" y="2944368"/>
            <a:ext cx="182880" cy="329184"/>
          </a:xfrm>
          <a:prstGeom prst="rightArrow">
            <a:avLst/>
          </a:prstGeom>
          <a:solidFill>
            <a:srgbClr val="823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tep"/>
          <p:cNvSpPr/>
          <p:nvPr/>
        </p:nvSpPr>
        <p:spPr>
          <a:xfrm>
            <a:off x="9102623" y="2103120"/>
            <a:ext cx="2540431" cy="2011680"/>
          </a:xfrm>
          <a:prstGeom prst="roundRect">
            <a:avLst>
              <a:gd name="adj" fmla="val 909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badge"/>
          <p:cNvSpPr/>
          <p:nvPr/>
        </p:nvSpPr>
        <p:spPr>
          <a:xfrm>
            <a:off x="9331223" y="2286000"/>
            <a:ext cx="365760" cy="365760"/>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4</a:t>
            </a:r>
          </a:p>
        </p:txBody>
      </p:sp>
      <p:sp>
        <p:nvSpPr>
          <p:cNvPr id="28" name="tile"/>
          <p:cNvSpPr/>
          <p:nvPr/>
        </p:nvSpPr>
        <p:spPr>
          <a:xfrm>
            <a:off x="10911535" y="2240280"/>
            <a:ext cx="502920" cy="50292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descr="ic-file-p.png"/>
          <p:cNvPicPr>
            <a:picLocks noChangeAspect="1"/>
          </p:cNvPicPr>
          <p:nvPr/>
        </p:nvPicPr>
        <p:blipFill>
          <a:blip r:embed="rId5"/>
          <a:stretch>
            <a:fillRect/>
          </a:stretch>
        </p:blipFill>
        <p:spPr>
          <a:xfrm>
            <a:off x="11022177" y="2350922"/>
            <a:ext cx="281635" cy="281635"/>
          </a:xfrm>
          <a:prstGeom prst="rect">
            <a:avLst/>
          </a:prstGeom>
        </p:spPr>
      </p:pic>
      <p:sp>
        <p:nvSpPr>
          <p:cNvPr id="30" name="step-h"/>
          <p:cNvSpPr txBox="1"/>
          <p:nvPr/>
        </p:nvSpPr>
        <p:spPr>
          <a:xfrm>
            <a:off x="9331223" y="2816352"/>
            <a:ext cx="2083231" cy="365760"/>
          </a:xfrm>
          <a:prstGeom prst="rect">
            <a:avLst/>
          </a:prstGeom>
          <a:noFill/>
        </p:spPr>
        <p:txBody>
          <a:bodyPr wrap="square" lIns="0" rIns="0" tIns="0" bIns="0" anchor="t">
            <a:noAutofit/>
          </a:bodyPr>
          <a:lstStyle/>
          <a:p>
            <a:pPr algn="l">
              <a:lnSpc>
                <a:spcPct val="110000"/>
              </a:lnSpc>
              <a:spcAft>
                <a:spcPts val="0"/>
              </a:spcAft>
            </a:pPr>
            <a:r>
              <a:rPr sz="1600" b="1">
                <a:solidFill>
                  <a:srgbClr val="1F1B2E"/>
                </a:solidFill>
                <a:latin typeface="Be Vietnam Pro"/>
              </a:rPr>
              <a:t>Mở tài liệu gốc</a:t>
            </a:r>
          </a:p>
        </p:txBody>
      </p:sp>
      <p:sp>
        <p:nvSpPr>
          <p:cNvPr id="31" name="step-t"/>
          <p:cNvSpPr txBox="1"/>
          <p:nvPr/>
        </p:nvSpPr>
        <p:spPr>
          <a:xfrm>
            <a:off x="9331223" y="3182112"/>
            <a:ext cx="2128951" cy="896112"/>
          </a:xfrm>
          <a:prstGeom prst="rect">
            <a:avLst/>
          </a:prstGeom>
          <a:noFill/>
        </p:spPr>
        <p:txBody>
          <a:bodyPr wrap="square" lIns="0" rIns="0" tIns="0" bIns="0" anchor="t">
            <a:noAutofit/>
          </a:bodyPr>
          <a:lstStyle/>
          <a:p>
            <a:pPr algn="l">
              <a:lnSpc>
                <a:spcPct val="105000"/>
              </a:lnSpc>
              <a:spcAft>
                <a:spcPts val="0"/>
              </a:spcAft>
            </a:pPr>
            <a:r>
              <a:rPr sz="1350" b="0">
                <a:solidFill>
                  <a:srgbClr val="5F5A73"/>
                </a:solidFill>
                <a:latin typeface="Be Vietnam Pro"/>
              </a:rPr>
              <a:t>Bấm U1 để mở đúng trang trên WikiBox</a:t>
            </a:r>
          </a:p>
        </p:txBody>
      </p:sp>
      <p:sp>
        <p:nvSpPr>
          <p:cNvPr id="32" name="connect"/>
          <p:cNvSpPr/>
          <p:nvPr/>
        </p:nvSpPr>
        <p:spPr>
          <a:xfrm>
            <a:off x="548640" y="4343400"/>
            <a:ext cx="5410047" cy="1847088"/>
          </a:xfrm>
          <a:prstGeom prst="roundRect">
            <a:avLst>
              <a:gd name="adj" fmla="val 9900"/>
            </a:avLst>
          </a:prstGeom>
          <a:solidFill>
            <a:srgbClr val="FFFFFF"/>
          </a:solidFill>
          <a:ln w="12700">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ile"/>
          <p:cNvSpPr/>
          <p:nvPr/>
        </p:nvSpPr>
        <p:spPr>
          <a:xfrm>
            <a:off x="804672" y="4553712"/>
            <a:ext cx="502920" cy="50292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icon" descr="ic-plug-p.png"/>
          <p:cNvPicPr>
            <a:picLocks noChangeAspect="1"/>
          </p:cNvPicPr>
          <p:nvPr/>
        </p:nvPicPr>
        <p:blipFill>
          <a:blip r:embed="rId6"/>
          <a:stretch>
            <a:fillRect/>
          </a:stretch>
        </p:blipFill>
        <p:spPr>
          <a:xfrm>
            <a:off x="915314" y="4664354"/>
            <a:ext cx="281635" cy="281635"/>
          </a:xfrm>
          <a:prstGeom prst="rect">
            <a:avLst/>
          </a:prstGeom>
        </p:spPr>
      </p:pic>
      <p:sp>
        <p:nvSpPr>
          <p:cNvPr id="35" name="connect-h"/>
          <p:cNvSpPr txBox="1"/>
          <p:nvPr/>
        </p:nvSpPr>
        <p:spPr>
          <a:xfrm>
            <a:off x="1463040" y="4553712"/>
            <a:ext cx="4221327" cy="457200"/>
          </a:xfrm>
          <a:prstGeom prst="rect">
            <a:avLst/>
          </a:prstGeom>
          <a:noFill/>
        </p:spPr>
        <p:txBody>
          <a:bodyPr wrap="square" lIns="0" rIns="0" tIns="0" bIns="0" anchor="ctr">
            <a:noAutofit/>
          </a:bodyPr>
          <a:lstStyle/>
          <a:p>
            <a:pPr algn="l">
              <a:lnSpc>
                <a:spcPct val="110000"/>
              </a:lnSpc>
              <a:spcAft>
                <a:spcPts val="0"/>
              </a:spcAft>
            </a:pPr>
            <a:r>
              <a:rPr sz="1600" b="1">
                <a:solidFill>
                  <a:srgbClr val="1F1B2E"/>
                </a:solidFill>
                <a:latin typeface="Be Vietnam Pro"/>
              </a:rPr>
              <a:t>Kết nối một lần</a:t>
            </a:r>
          </a:p>
        </p:txBody>
      </p:sp>
      <p:sp>
        <p:nvSpPr>
          <p:cNvPr id="36" name="connect-t"/>
          <p:cNvSpPr txBox="1"/>
          <p:nvPr/>
        </p:nvSpPr>
        <p:spPr>
          <a:xfrm>
            <a:off x="804672" y="5138928"/>
            <a:ext cx="4897983" cy="960120"/>
          </a:xfrm>
          <a:prstGeom prst="rect">
            <a:avLst/>
          </a:prstGeom>
          <a:noFill/>
        </p:spPr>
        <p:txBody>
          <a:bodyPr wrap="square" lIns="0" rIns="0" tIns="0" bIns="0" anchor="t">
            <a:noAutofit/>
          </a:bodyPr>
          <a:lstStyle/>
          <a:p>
            <a:pPr algn="l" marL="219456" indent="-219456">
              <a:lnSpc>
                <a:spcPct val="105000"/>
              </a:lnSpc>
              <a:spcAft>
                <a:spcPts val="300"/>
              </a:spcAft>
              <a:buClr>
                <a:srgbClr val="6821C2"/>
              </a:buClr>
              <a:buSzPct val="100000"/>
              <a:buFont typeface="Arial"/>
              <a:buChar char="•"/>
            </a:pPr>
            <a:r>
              <a:rPr sz="1300" b="0">
                <a:solidFill>
                  <a:srgbClr val="5F5A73"/>
                </a:solidFill>
                <a:latin typeface="Be Vietnam Pro"/>
              </a:rPr>
              <a:t>Cài đặt &gt; Kho tri thức: đăng nhập bằng Google hoặc API key</a:t>
            </a:r>
          </a:p>
          <a:p>
            <a:pPr algn="l" marL="219456" indent="-219456">
              <a:lnSpc>
                <a:spcPct val="105000"/>
              </a:lnSpc>
              <a:spcAft>
                <a:spcPts val="300"/>
              </a:spcAft>
              <a:buClr>
                <a:srgbClr val="6821C2"/>
              </a:buClr>
              <a:buSzPct val="100000"/>
              <a:buFont typeface="Arial"/>
              <a:buChar char="•"/>
            </a:pPr>
            <a:r>
              <a:rPr sz="1300" b="0">
                <a:solidFill>
                  <a:srgbClr val="5F5A73"/>
                </a:solidFill>
                <a:latin typeface="Be Vietnam Pro"/>
              </a:rPr>
              <a:t>Chỉ đọc, đúng quyền của mình; ngắt lúc nào cũng được</a:t>
            </a:r>
          </a:p>
        </p:txBody>
      </p:sp>
      <p:sp>
        <p:nvSpPr>
          <p:cNvPr id="37" name="status"/>
          <p:cNvSpPr/>
          <p:nvPr/>
        </p:nvSpPr>
        <p:spPr>
          <a:xfrm>
            <a:off x="6233007" y="4343400"/>
            <a:ext cx="5410047" cy="1847088"/>
          </a:xfrm>
          <a:prstGeom prst="roundRect">
            <a:avLst>
              <a:gd name="adj" fmla="val 9900"/>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ile"/>
          <p:cNvSpPr/>
          <p:nvPr/>
        </p:nvSpPr>
        <p:spPr>
          <a:xfrm>
            <a:off x="6489039" y="4553712"/>
            <a:ext cx="502920" cy="502920"/>
          </a:xfrm>
          <a:prstGeom prst="roundRect">
            <a:avLst>
              <a:gd name="adj" fmla="val 2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icon" descr="ic-gauge-p.png"/>
          <p:cNvPicPr>
            <a:picLocks noChangeAspect="1"/>
          </p:cNvPicPr>
          <p:nvPr/>
        </p:nvPicPr>
        <p:blipFill>
          <a:blip r:embed="rId7"/>
          <a:stretch>
            <a:fillRect/>
          </a:stretch>
        </p:blipFill>
        <p:spPr>
          <a:xfrm>
            <a:off x="6599682" y="4664354"/>
            <a:ext cx="281635" cy="281635"/>
          </a:xfrm>
          <a:prstGeom prst="rect">
            <a:avLst/>
          </a:prstGeom>
        </p:spPr>
      </p:pic>
      <p:sp>
        <p:nvSpPr>
          <p:cNvPr id="40" name="status-h"/>
          <p:cNvSpPr txBox="1"/>
          <p:nvPr/>
        </p:nvSpPr>
        <p:spPr>
          <a:xfrm>
            <a:off x="7147407" y="4553712"/>
            <a:ext cx="4221327" cy="457200"/>
          </a:xfrm>
          <a:prstGeom prst="rect">
            <a:avLst/>
          </a:prstGeom>
          <a:noFill/>
        </p:spPr>
        <p:txBody>
          <a:bodyPr wrap="square" lIns="0" rIns="0" tIns="0" bIns="0" anchor="ctr">
            <a:noAutofit/>
          </a:bodyPr>
          <a:lstStyle/>
          <a:p>
            <a:pPr algn="l">
              <a:lnSpc>
                <a:spcPct val="110000"/>
              </a:lnSpc>
              <a:spcAft>
                <a:spcPts val="0"/>
              </a:spcAft>
            </a:pPr>
            <a:r>
              <a:rPr sz="1600" b="1">
                <a:solidFill>
                  <a:srgbClr val="1F1B2E"/>
                </a:solidFill>
                <a:latin typeface="Be Vietnam Pro"/>
              </a:rPr>
              <a:t>Trạng thái 23/10/2026</a:t>
            </a:r>
          </a:p>
        </p:txBody>
      </p:sp>
      <p:sp>
        <p:nvSpPr>
          <p:cNvPr id="41" name="status-t"/>
          <p:cNvSpPr txBox="1"/>
          <p:nvPr/>
        </p:nvSpPr>
        <p:spPr>
          <a:xfrm>
            <a:off x="6489039" y="5138928"/>
            <a:ext cx="4897983" cy="1024128"/>
          </a:xfrm>
          <a:prstGeom prst="rect">
            <a:avLst/>
          </a:prstGeom>
          <a:noFill/>
        </p:spPr>
        <p:txBody>
          <a:bodyPr wrap="square" lIns="0" rIns="0" tIns="0" bIns="0" anchor="t">
            <a:noAutofit/>
          </a:bodyPr>
          <a:lstStyle/>
          <a:p>
            <a:pPr algn="l" marL="219456" indent="-219456">
              <a:lnSpc>
                <a:spcPct val="105000"/>
              </a:lnSpc>
              <a:spcAft>
                <a:spcPts val="300"/>
              </a:spcAft>
              <a:buClr>
                <a:srgbClr val="6821C2"/>
              </a:buClr>
              <a:buSzPct val="100000"/>
              <a:buFont typeface="Arial"/>
              <a:buChar char="•"/>
            </a:pPr>
            <a:r>
              <a:rPr sz="1300" b="0">
                <a:solidFill>
                  <a:srgbClr val="1F1B2E"/>
                </a:solidFill>
                <a:latin typeface="Be Vietnam Pro"/>
              </a:rPr>
              <a:t>WikiBox đã cho Copilot đăng nhập trực tiếp bằng tài khoản Google</a:t>
            </a:r>
          </a:p>
          <a:p>
            <a:pPr algn="l" marL="219456" indent="-219456">
              <a:lnSpc>
                <a:spcPct val="105000"/>
              </a:lnSpc>
              <a:spcAft>
                <a:spcPts val="300"/>
              </a:spcAft>
              <a:buClr>
                <a:srgbClr val="6821C2"/>
              </a:buClr>
              <a:buSzPct val="100000"/>
              <a:buFont typeface="Arial"/>
              <a:buChar char="•"/>
            </a:pPr>
            <a:r>
              <a:rPr sz="1300" b="0">
                <a:solidFill>
                  <a:srgbClr val="1F1B2E"/>
                </a:solidFill>
                <a:latin typeface="Be Vietnam Pro"/>
              </a:rPr>
              <a:t>Đã tích hợp qua MCP; cần chạy thử với tài liệu thật</a:t>
            </a:r>
          </a:p>
        </p:txBody>
      </p:sp>
      <p:pic>
        <p:nvPicPr>
          <p:cNvPr id="42" name="logo" descr="logo-purple.png"/>
          <p:cNvPicPr>
            <a:picLocks noChangeAspect="1"/>
          </p:cNvPicPr>
          <p:nvPr/>
        </p:nvPicPr>
        <p:blipFill>
          <a:blip r:embed="rId8"/>
          <a:stretch>
            <a:fillRect/>
          </a:stretch>
        </p:blipFill>
        <p:spPr>
          <a:xfrm>
            <a:off x="548640" y="6382512"/>
            <a:ext cx="850392" cy="237744"/>
          </a:xfrm>
          <a:prstGeom prst="rect">
            <a:avLst/>
          </a:prstGeom>
        </p:spPr>
      </p:pic>
      <p:sp>
        <p:nvSpPr>
          <p:cNvPr id="43"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44"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2713939"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4 · DH/LM quản lý cuộc họp</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Nắm cuộc họp của cả nhóm, không phải dự từng buổi</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Dành cho trưởng phòng (DH) và quản lý trực tiếp (LM) làm chủ nhóm</a:t>
            </a:r>
          </a:p>
        </p:txBody>
      </p:sp>
      <p:sp>
        <p:nvSpPr>
          <p:cNvPr id="5" name="tile"/>
          <p:cNvSpPr/>
          <p:nvPr/>
        </p:nvSpPr>
        <p:spPr>
          <a:xfrm>
            <a:off x="548640" y="2148839"/>
            <a:ext cx="512064" cy="512064"/>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icon" descr="ic-users-p.png"/>
          <p:cNvPicPr>
            <a:picLocks noChangeAspect="1"/>
          </p:cNvPicPr>
          <p:nvPr/>
        </p:nvPicPr>
        <p:blipFill>
          <a:blip r:embed="rId2"/>
          <a:stretch>
            <a:fillRect/>
          </a:stretch>
        </p:blipFill>
        <p:spPr>
          <a:xfrm>
            <a:off x="661294" y="2261494"/>
            <a:ext cx="286755" cy="286755"/>
          </a:xfrm>
          <a:prstGeom prst="rect">
            <a:avLst/>
          </a:prstGeom>
        </p:spPr>
      </p:pic>
      <p:sp>
        <p:nvSpPr>
          <p:cNvPr id="7" name="row-h"/>
          <p:cNvSpPr txBox="1"/>
          <p:nvPr/>
        </p:nvSpPr>
        <p:spPr>
          <a:xfrm>
            <a:off x="1234440" y="2103120"/>
            <a:ext cx="4800600" cy="329184"/>
          </a:xfrm>
          <a:prstGeom prst="rect">
            <a:avLst/>
          </a:prstGeom>
          <a:noFill/>
        </p:spPr>
        <p:txBody>
          <a:bodyPr wrap="square" lIns="0" rIns="0" tIns="0" bIns="0" anchor="t">
            <a:noAutofit/>
          </a:bodyPr>
          <a:lstStyle/>
          <a:p>
            <a:pPr algn="l">
              <a:lnSpc>
                <a:spcPct val="110000"/>
              </a:lnSpc>
              <a:spcAft>
                <a:spcPts val="0"/>
              </a:spcAft>
            </a:pPr>
            <a:r>
              <a:rPr sz="1550" b="1">
                <a:solidFill>
                  <a:srgbClr val="1F1B2E"/>
                </a:solidFill>
                <a:latin typeface="Be Vietnam Pro"/>
              </a:rPr>
              <a:t>Nhóm theo phòng ban, dự án</a:t>
            </a:r>
          </a:p>
        </p:txBody>
      </p:sp>
      <p:sp>
        <p:nvSpPr>
          <p:cNvPr id="8" name="row-t"/>
          <p:cNvSpPr txBox="1"/>
          <p:nvPr/>
        </p:nvSpPr>
        <p:spPr>
          <a:xfrm>
            <a:off x="1234440" y="2432303"/>
            <a:ext cx="4800600" cy="457200"/>
          </a:xfrm>
          <a:prstGeom prst="rect">
            <a:avLst/>
          </a:prstGeom>
          <a:noFill/>
        </p:spPr>
        <p:txBody>
          <a:bodyPr wrap="square" lIns="0" rIns="0" tIns="0" bIns="0" anchor="t">
            <a:noAutofit/>
          </a:bodyPr>
          <a:lstStyle/>
          <a:p>
            <a:pPr algn="l">
              <a:lnSpc>
                <a:spcPct val="100000"/>
              </a:lnSpc>
              <a:spcAft>
                <a:spcPts val="0"/>
              </a:spcAft>
            </a:pPr>
            <a:r>
              <a:rPr sz="1350" b="0">
                <a:solidFill>
                  <a:srgbClr val="5F5A73"/>
                </a:solidFill>
                <a:latin typeface="Be Vietnam Pro"/>
              </a:rPr>
              <a:t>DH/LM là chủ nhóm; họp định kỳ trên lịch tự vào nhóm</a:t>
            </a:r>
          </a:p>
        </p:txBody>
      </p:sp>
      <p:sp>
        <p:nvSpPr>
          <p:cNvPr id="9" name="tile"/>
          <p:cNvSpPr/>
          <p:nvPr/>
        </p:nvSpPr>
        <p:spPr>
          <a:xfrm>
            <a:off x="548640" y="2953511"/>
            <a:ext cx="512064" cy="512064"/>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icon" descr="ic-file-p.png"/>
          <p:cNvPicPr>
            <a:picLocks noChangeAspect="1"/>
          </p:cNvPicPr>
          <p:nvPr/>
        </p:nvPicPr>
        <p:blipFill>
          <a:blip r:embed="rId3"/>
          <a:stretch>
            <a:fillRect/>
          </a:stretch>
        </p:blipFill>
        <p:spPr>
          <a:xfrm>
            <a:off x="661294" y="3066166"/>
            <a:ext cx="286755" cy="286755"/>
          </a:xfrm>
          <a:prstGeom prst="rect">
            <a:avLst/>
          </a:prstGeom>
        </p:spPr>
      </p:pic>
      <p:sp>
        <p:nvSpPr>
          <p:cNvPr id="11" name="row-h"/>
          <p:cNvSpPr txBox="1"/>
          <p:nvPr/>
        </p:nvSpPr>
        <p:spPr>
          <a:xfrm>
            <a:off x="1234440" y="2907791"/>
            <a:ext cx="4800600" cy="329184"/>
          </a:xfrm>
          <a:prstGeom prst="rect">
            <a:avLst/>
          </a:prstGeom>
          <a:noFill/>
        </p:spPr>
        <p:txBody>
          <a:bodyPr wrap="square" lIns="0" rIns="0" tIns="0" bIns="0" anchor="t">
            <a:noAutofit/>
          </a:bodyPr>
          <a:lstStyle/>
          <a:p>
            <a:pPr algn="l">
              <a:lnSpc>
                <a:spcPct val="110000"/>
              </a:lnSpc>
              <a:spcAft>
                <a:spcPts val="0"/>
              </a:spcAft>
            </a:pPr>
            <a:r>
              <a:rPr sz="1550" b="1">
                <a:solidFill>
                  <a:srgbClr val="1F1B2E"/>
                </a:solidFill>
                <a:latin typeface="Be Vietnam Pro"/>
              </a:rPr>
              <a:t>Biên bản cùng một chuẩn</a:t>
            </a:r>
          </a:p>
        </p:txBody>
      </p:sp>
      <p:sp>
        <p:nvSpPr>
          <p:cNvPr id="12" name="row-t"/>
          <p:cNvSpPr txBox="1"/>
          <p:nvPr/>
        </p:nvSpPr>
        <p:spPr>
          <a:xfrm>
            <a:off x="1234440" y="3236975"/>
            <a:ext cx="4800600" cy="457200"/>
          </a:xfrm>
          <a:prstGeom prst="rect">
            <a:avLst/>
          </a:prstGeom>
          <a:noFill/>
        </p:spPr>
        <p:txBody>
          <a:bodyPr wrap="square" lIns="0" rIns="0" tIns="0" bIns="0" anchor="t">
            <a:noAutofit/>
          </a:bodyPr>
          <a:lstStyle/>
          <a:p>
            <a:pPr algn="l">
              <a:lnSpc>
                <a:spcPct val="100000"/>
              </a:lnSpc>
              <a:spcAft>
                <a:spcPts val="0"/>
              </a:spcAft>
            </a:pPr>
            <a:r>
              <a:rPr sz="1350" b="0">
                <a:solidFill>
                  <a:srgbClr val="5F5A73"/>
                </a:solidFill>
                <a:latin typeface="Be Vietnam Pro"/>
              </a:rPr>
              <a:t>Quyết định, việc cần làm, người phụ trách, hạn chót</a:t>
            </a:r>
          </a:p>
        </p:txBody>
      </p:sp>
      <p:sp>
        <p:nvSpPr>
          <p:cNvPr id="13" name="tile"/>
          <p:cNvSpPr/>
          <p:nvPr/>
        </p:nvSpPr>
        <p:spPr>
          <a:xfrm>
            <a:off x="548640" y="3758183"/>
            <a:ext cx="512064" cy="512064"/>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descr="ic-history-p.png"/>
          <p:cNvPicPr>
            <a:picLocks noChangeAspect="1"/>
          </p:cNvPicPr>
          <p:nvPr/>
        </p:nvPicPr>
        <p:blipFill>
          <a:blip r:embed="rId4"/>
          <a:stretch>
            <a:fillRect/>
          </a:stretch>
        </p:blipFill>
        <p:spPr>
          <a:xfrm>
            <a:off x="661294" y="3870838"/>
            <a:ext cx="286755" cy="286755"/>
          </a:xfrm>
          <a:prstGeom prst="rect">
            <a:avLst/>
          </a:prstGeom>
        </p:spPr>
      </p:pic>
      <p:sp>
        <p:nvSpPr>
          <p:cNvPr id="15" name="row-h"/>
          <p:cNvSpPr txBox="1"/>
          <p:nvPr/>
        </p:nvSpPr>
        <p:spPr>
          <a:xfrm>
            <a:off x="1234440" y="3712463"/>
            <a:ext cx="4800600" cy="329184"/>
          </a:xfrm>
          <a:prstGeom prst="rect">
            <a:avLst/>
          </a:prstGeom>
          <a:noFill/>
        </p:spPr>
        <p:txBody>
          <a:bodyPr wrap="square" lIns="0" rIns="0" tIns="0" bIns="0" anchor="t">
            <a:noAutofit/>
          </a:bodyPr>
          <a:lstStyle/>
          <a:p>
            <a:pPr algn="l">
              <a:lnSpc>
                <a:spcPct val="110000"/>
              </a:lnSpc>
              <a:spcAft>
                <a:spcPts val="0"/>
              </a:spcAft>
            </a:pPr>
            <a:r>
              <a:rPr sz="1550" b="1">
                <a:solidFill>
                  <a:srgbClr val="1F1B2E"/>
                </a:solidFill>
                <a:latin typeface="Be Vietnam Pro"/>
              </a:rPr>
              <a:t>Không sót điều đã chốt</a:t>
            </a:r>
          </a:p>
        </p:txBody>
      </p:sp>
      <p:sp>
        <p:nvSpPr>
          <p:cNvPr id="16" name="row-t"/>
          <p:cNvSpPr txBox="1"/>
          <p:nvPr/>
        </p:nvSpPr>
        <p:spPr>
          <a:xfrm>
            <a:off x="1234440" y="4041648"/>
            <a:ext cx="4800600" cy="457200"/>
          </a:xfrm>
          <a:prstGeom prst="rect">
            <a:avLst/>
          </a:prstGeom>
          <a:noFill/>
        </p:spPr>
        <p:txBody>
          <a:bodyPr wrap="square" lIns="0" rIns="0" tIns="0" bIns="0" anchor="t">
            <a:noAutofit/>
          </a:bodyPr>
          <a:lstStyle/>
          <a:p>
            <a:pPr algn="l">
              <a:lnSpc>
                <a:spcPct val="100000"/>
              </a:lnSpc>
              <a:spcAft>
                <a:spcPts val="0"/>
              </a:spcAft>
            </a:pPr>
            <a:r>
              <a:rPr sz="1350" b="0">
                <a:solidFill>
                  <a:srgbClr val="5F5A73"/>
                </a:solidFill>
                <a:latin typeface="Be Vietnam Pro"/>
              </a:rPr>
              <a:t>Biên bản tự nhắc khi nói khác điều đã chốt trước đó</a:t>
            </a:r>
          </a:p>
        </p:txBody>
      </p:sp>
      <p:sp>
        <p:nvSpPr>
          <p:cNvPr id="17" name="tile"/>
          <p:cNvSpPr/>
          <p:nvPr/>
        </p:nvSpPr>
        <p:spPr>
          <a:xfrm>
            <a:off x="548640" y="4562855"/>
            <a:ext cx="512064" cy="512064"/>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icon" descr="ic-search-p.png"/>
          <p:cNvPicPr>
            <a:picLocks noChangeAspect="1"/>
          </p:cNvPicPr>
          <p:nvPr/>
        </p:nvPicPr>
        <p:blipFill>
          <a:blip r:embed="rId5"/>
          <a:stretch>
            <a:fillRect/>
          </a:stretch>
        </p:blipFill>
        <p:spPr>
          <a:xfrm>
            <a:off x="661294" y="4675510"/>
            <a:ext cx="286755" cy="286755"/>
          </a:xfrm>
          <a:prstGeom prst="rect">
            <a:avLst/>
          </a:prstGeom>
        </p:spPr>
      </p:pic>
      <p:sp>
        <p:nvSpPr>
          <p:cNvPr id="19" name="row-h"/>
          <p:cNvSpPr txBox="1"/>
          <p:nvPr/>
        </p:nvSpPr>
        <p:spPr>
          <a:xfrm>
            <a:off x="1234440" y="4517136"/>
            <a:ext cx="4800600" cy="329184"/>
          </a:xfrm>
          <a:prstGeom prst="rect">
            <a:avLst/>
          </a:prstGeom>
          <a:noFill/>
        </p:spPr>
        <p:txBody>
          <a:bodyPr wrap="square" lIns="0" rIns="0" tIns="0" bIns="0" anchor="t">
            <a:noAutofit/>
          </a:bodyPr>
          <a:lstStyle/>
          <a:p>
            <a:pPr algn="l">
              <a:lnSpc>
                <a:spcPct val="110000"/>
              </a:lnSpc>
              <a:spcAft>
                <a:spcPts val="0"/>
              </a:spcAft>
            </a:pPr>
            <a:r>
              <a:rPr sz="1550" b="1">
                <a:solidFill>
                  <a:srgbClr val="1F1B2E"/>
                </a:solidFill>
                <a:latin typeface="Be Vietnam Pro"/>
              </a:rPr>
              <a:t>Hỏi trên mọi cuộc họp</a:t>
            </a:r>
          </a:p>
        </p:txBody>
      </p:sp>
      <p:sp>
        <p:nvSpPr>
          <p:cNvPr id="20" name="row-t"/>
          <p:cNvSpPr txBox="1"/>
          <p:nvPr/>
        </p:nvSpPr>
        <p:spPr>
          <a:xfrm>
            <a:off x="1234440" y="4846320"/>
            <a:ext cx="4800600" cy="457200"/>
          </a:xfrm>
          <a:prstGeom prst="rect">
            <a:avLst/>
          </a:prstGeom>
          <a:noFill/>
        </p:spPr>
        <p:txBody>
          <a:bodyPr wrap="square" lIns="0" rIns="0" tIns="0" bIns="0" anchor="t">
            <a:noAutofit/>
          </a:bodyPr>
          <a:lstStyle/>
          <a:p>
            <a:pPr algn="l">
              <a:lnSpc>
                <a:spcPct val="100000"/>
              </a:lnSpc>
              <a:spcAft>
                <a:spcPts val="0"/>
              </a:spcAft>
            </a:pPr>
            <a:r>
              <a:rPr sz="1350" b="0">
                <a:solidFill>
                  <a:srgbClr val="5F5A73"/>
                </a:solidFill>
                <a:latin typeface="Be Vietnam Pro"/>
              </a:rPr>
              <a:t>"Nhóm đã hứa gì với khách?" (nhóm bật chế độ BD)</a:t>
            </a:r>
          </a:p>
        </p:txBody>
      </p:sp>
      <p:sp>
        <p:nvSpPr>
          <p:cNvPr id="21" name="tile"/>
          <p:cNvSpPr/>
          <p:nvPr/>
        </p:nvSpPr>
        <p:spPr>
          <a:xfrm>
            <a:off x="548640" y="5367528"/>
            <a:ext cx="512064" cy="512064"/>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descr="ic-folder-p.png"/>
          <p:cNvPicPr>
            <a:picLocks noChangeAspect="1"/>
          </p:cNvPicPr>
          <p:nvPr/>
        </p:nvPicPr>
        <p:blipFill>
          <a:blip r:embed="rId6"/>
          <a:stretch>
            <a:fillRect/>
          </a:stretch>
        </p:blipFill>
        <p:spPr>
          <a:xfrm>
            <a:off x="661294" y="5480182"/>
            <a:ext cx="286755" cy="286755"/>
          </a:xfrm>
          <a:prstGeom prst="rect">
            <a:avLst/>
          </a:prstGeom>
        </p:spPr>
      </p:pic>
      <p:sp>
        <p:nvSpPr>
          <p:cNvPr id="23" name="row-h"/>
          <p:cNvSpPr txBox="1"/>
          <p:nvPr/>
        </p:nvSpPr>
        <p:spPr>
          <a:xfrm>
            <a:off x="1234440" y="5321808"/>
            <a:ext cx="4800600" cy="329184"/>
          </a:xfrm>
          <a:prstGeom prst="rect">
            <a:avLst/>
          </a:prstGeom>
          <a:noFill/>
        </p:spPr>
        <p:txBody>
          <a:bodyPr wrap="square" lIns="0" rIns="0" tIns="0" bIns="0" anchor="t">
            <a:noAutofit/>
          </a:bodyPr>
          <a:lstStyle/>
          <a:p>
            <a:pPr algn="l">
              <a:lnSpc>
                <a:spcPct val="110000"/>
              </a:lnSpc>
              <a:spcAft>
                <a:spcPts val="0"/>
              </a:spcAft>
            </a:pPr>
            <a:r>
              <a:rPr sz="1550" b="1">
                <a:solidFill>
                  <a:srgbClr val="1F1B2E"/>
                </a:solidFill>
                <a:latin typeface="Be Vietnam Pro"/>
              </a:rPr>
              <a:t>Thư mục Drive của nhóm</a:t>
            </a:r>
          </a:p>
        </p:txBody>
      </p:sp>
      <p:sp>
        <p:nvSpPr>
          <p:cNvPr id="24" name="row-t"/>
          <p:cNvSpPr txBox="1"/>
          <p:nvPr/>
        </p:nvSpPr>
        <p:spPr>
          <a:xfrm>
            <a:off x="1234440" y="5650992"/>
            <a:ext cx="4800600" cy="457200"/>
          </a:xfrm>
          <a:prstGeom prst="rect">
            <a:avLst/>
          </a:prstGeom>
          <a:noFill/>
        </p:spPr>
        <p:txBody>
          <a:bodyPr wrap="square" lIns="0" rIns="0" tIns="0" bIns="0" anchor="t">
            <a:noAutofit/>
          </a:bodyPr>
          <a:lstStyle/>
          <a:p>
            <a:pPr algn="l">
              <a:lnSpc>
                <a:spcPct val="100000"/>
              </a:lnSpc>
              <a:spcAft>
                <a:spcPts val="0"/>
              </a:spcAft>
            </a:pPr>
            <a:r>
              <a:rPr sz="1350" b="0">
                <a:solidFill>
                  <a:srgbClr val="5F5A73"/>
                </a:solidFill>
                <a:latin typeface="Be Vietnam Pro"/>
              </a:rPr>
              <a:t>Biên bản tự lưu, tự chia sẻ cho thành viên</a:t>
            </a:r>
          </a:p>
        </p:txBody>
      </p:sp>
      <p:pic>
        <p:nvPicPr>
          <p:cNvPr id="25" name="screenshot" descr="shot-minutes.png"/>
          <p:cNvPicPr>
            <a:picLocks noChangeAspect="1"/>
          </p:cNvPicPr>
          <p:nvPr/>
        </p:nvPicPr>
        <p:blipFill>
          <a:blip r:embed="rId7"/>
          <a:stretch>
            <a:fillRect/>
          </a:stretch>
        </p:blipFill>
        <p:spPr>
          <a:xfrm>
            <a:off x="6291072" y="2103120"/>
            <a:ext cx="5349240" cy="3346704"/>
          </a:xfrm>
          <a:prstGeom prst="rect">
            <a:avLst/>
          </a:prstGeom>
        </p:spPr>
      </p:pic>
      <p:sp>
        <p:nvSpPr>
          <p:cNvPr id="26" name="caption"/>
          <p:cNvSpPr txBox="1"/>
          <p:nvPr/>
        </p:nvSpPr>
        <p:spPr>
          <a:xfrm>
            <a:off x="6291072" y="5559552"/>
            <a:ext cx="5349240" cy="566928"/>
          </a:xfrm>
          <a:prstGeom prst="rect">
            <a:avLst/>
          </a:prstGeom>
          <a:noFill/>
        </p:spPr>
        <p:txBody>
          <a:bodyPr wrap="square" lIns="0" rIns="0" tIns="0" bIns="0" anchor="t">
            <a:noAutofit/>
          </a:bodyPr>
          <a:lstStyle/>
          <a:p>
            <a:pPr algn="l">
              <a:lnSpc>
                <a:spcPct val="105000"/>
              </a:lnSpc>
              <a:spcAft>
                <a:spcPts val="0"/>
              </a:spcAft>
            </a:pPr>
            <a:r>
              <a:rPr sz="1150" b="0">
                <a:solidFill>
                  <a:srgbClr val="5F5A73"/>
                </a:solidFill>
                <a:latin typeface="Be Vietnam Pro"/>
              </a:rPr>
              <a:t>Biên bản trong ứng dụng (dữ liệu mẫu): bảng phân công và mục Thay đổi so với các buổi trước</a:t>
            </a:r>
          </a:p>
        </p:txBody>
      </p:sp>
      <p:pic>
        <p:nvPicPr>
          <p:cNvPr id="27" name="logo" descr="logo-purple.png"/>
          <p:cNvPicPr>
            <a:picLocks noChangeAspect="1"/>
          </p:cNvPicPr>
          <p:nvPr/>
        </p:nvPicPr>
        <p:blipFill>
          <a:blip r:embed="rId8"/>
          <a:stretch>
            <a:fillRect/>
          </a:stretch>
        </p:blipFill>
        <p:spPr>
          <a:xfrm>
            <a:off x="548640" y="6382512"/>
            <a:ext cx="850392" cy="237744"/>
          </a:xfrm>
          <a:prstGeom prst="rect">
            <a:avLst/>
          </a:prstGeom>
        </p:spPr>
      </p:pic>
      <p:sp>
        <p:nvSpPr>
          <p:cNvPr id="28"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29"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1638604"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4 · Phân quyền</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Nhóm thì chia sẻ, cá nhân thì riêng</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Ai xem được gì trong Meeting Copilot</a:t>
            </a:r>
          </a:p>
        </p:txBody>
      </p:sp>
      <p:graphicFrame>
        <p:nvGraphicFramePr>
          <p:cNvPr id="5" name="permissions"/>
          <p:cNvGraphicFramePr>
            <a:graphicFrameLocks noGrp="1"/>
          </p:cNvGraphicFramePr>
          <p:nvPr/>
        </p:nvGraphicFramePr>
        <p:xfrm>
          <a:off x="548640" y="2057400"/>
          <a:ext cx="11094415" cy="3200400"/>
        </p:xfrm>
        <a:graphic>
          <a:graphicData uri="http://schemas.openxmlformats.org/drawingml/2006/table">
            <a:tbl>
              <a:tblPr>
                <a:tableStyleId>{5C22544A-7EE6-4342-B048-85BDC9FD1C3A}</a:tableStyleId>
              </a:tblPr>
              <a:tblGrid>
                <a:gridCol w="3383280"/>
                <a:gridCol w="2651760"/>
                <a:gridCol w="2651760"/>
                <a:gridCol w="2407615"/>
              </a:tblGrid>
              <a:tr h="457200">
                <a:tc>
                  <a:txBody>
                    <a:bodyPr wrap="square"/>
                    <a:lstStyle/>
                    <a:p>
                      <a:pPr>
                        <a:lnSpc>
                          <a:spcPct val="100000"/>
                        </a:lnSpc>
                      </a:pPr>
                      <a:r>
                        <a:rPr sz="1350" b="1">
                          <a:solidFill>
                            <a:srgbClr val="FFFFFF"/>
                          </a:solidFill>
                          <a:latin typeface="Be Vietnam Pro"/>
                        </a:rPr>
                        <a:t>Nội dung</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6821C2"/>
                    </a:solidFill>
                  </a:tcPr>
                </a:tc>
                <a:tc>
                  <a:txBody>
                    <a:bodyPr wrap="square"/>
                    <a:lstStyle/>
                    <a:p>
                      <a:pPr>
                        <a:lnSpc>
                          <a:spcPct val="100000"/>
                        </a:lnSpc>
                      </a:pPr>
                      <a:r>
                        <a:rPr sz="1350" b="1">
                          <a:solidFill>
                            <a:srgbClr val="FFFFFF"/>
                          </a:solidFill>
                          <a:latin typeface="Be Vietnam Pro"/>
                        </a:rPr>
                        <a:t>DH/LM (chủ nhóm)</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6821C2"/>
                    </a:solidFill>
                  </a:tcPr>
                </a:tc>
                <a:tc>
                  <a:txBody>
                    <a:bodyPr wrap="square"/>
                    <a:lstStyle/>
                    <a:p>
                      <a:pPr>
                        <a:lnSpc>
                          <a:spcPct val="100000"/>
                        </a:lnSpc>
                      </a:pPr>
                      <a:r>
                        <a:rPr sz="1350" b="1">
                          <a:solidFill>
                            <a:srgbClr val="FFFFFF"/>
                          </a:solidFill>
                          <a:latin typeface="Be Vietnam Pro"/>
                        </a:rPr>
                        <a:t>Thành viên nhóm</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6821C2"/>
                    </a:solidFill>
                  </a:tcPr>
                </a:tc>
                <a:tc>
                  <a:txBody>
                    <a:bodyPr wrap="square"/>
                    <a:lstStyle/>
                    <a:p>
                      <a:pPr>
                        <a:lnSpc>
                          <a:spcPct val="100000"/>
                        </a:lnSpc>
                      </a:pPr>
                      <a:r>
                        <a:rPr sz="1350" b="1">
                          <a:solidFill>
                            <a:srgbClr val="FFFFFF"/>
                          </a:solidFill>
                          <a:latin typeface="Be Vietnam Pro"/>
                        </a:rPr>
                        <a:t>Người ngoài nhóm</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6821C2"/>
                    </a:solidFill>
                  </a:tcPr>
                </a:tc>
              </a:tr>
              <a:tr h="457200">
                <a:tc>
                  <a:txBody>
                    <a:bodyPr wrap="square"/>
                    <a:lstStyle/>
                    <a:p>
                      <a:pPr>
                        <a:lnSpc>
                          <a:spcPct val="100000"/>
                        </a:lnSpc>
                      </a:pPr>
                      <a:r>
                        <a:rPr sz="1350" b="1">
                          <a:solidFill>
                            <a:srgbClr val="1F1B2E"/>
                          </a:solidFill>
                          <a:latin typeface="Be Vietnam Pro"/>
                        </a:rPr>
                        <a:t>Cuộc họp và biên bản của nhóm</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c>
                  <a:txBody>
                    <a:bodyPr wrap="square"/>
                    <a:lstStyle/>
                    <a:p>
                      <a:pPr>
                        <a:lnSpc>
                          <a:spcPct val="100000"/>
                        </a:lnSpc>
                      </a:pPr>
                      <a:r>
                        <a:rPr sz="1350" b="0">
                          <a:solidFill>
                            <a:srgbClr val="1F1B2E"/>
                          </a:solidFill>
                          <a:latin typeface="Be Vietnam Pro"/>
                        </a:rPr>
                        <a:t>Xem, quản lý</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c>
                  <a:txBody>
                    <a:bodyPr wrap="square"/>
                    <a:lstStyle/>
                    <a:p>
                      <a:pPr>
                        <a:lnSpc>
                          <a:spcPct val="100000"/>
                        </a:lnSpc>
                      </a:pPr>
                      <a:r>
                        <a:rPr sz="1350" b="0">
                          <a:solidFill>
                            <a:srgbClr val="1F1B2E"/>
                          </a:solidFill>
                          <a:latin typeface="Be Vietnam Pro"/>
                        </a:rPr>
                        <a:t>Xem, tạo cuộc họp</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c>
                  <a:txBody>
                    <a:bodyPr wrap="square"/>
                    <a:lstStyle/>
                    <a:p>
                      <a:pPr>
                        <a:lnSpc>
                          <a:spcPct val="100000"/>
                        </a:lnSpc>
                      </a:pPr>
                      <a:r>
                        <a:rPr sz="1350" b="0">
                          <a:solidFill>
                            <a:srgbClr val="1F1B2E"/>
                          </a:solidFill>
                          <a:latin typeface="Be Vietnam Pro"/>
                        </a:rPr>
                        <a:t>Không xem được</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r>
              <a:tr h="457200">
                <a:tc>
                  <a:txBody>
                    <a:bodyPr wrap="square"/>
                    <a:lstStyle/>
                    <a:p>
                      <a:pPr>
                        <a:lnSpc>
                          <a:spcPct val="100000"/>
                        </a:lnSpc>
                      </a:pPr>
                      <a:r>
                        <a:rPr sz="1350" b="1">
                          <a:solidFill>
                            <a:srgbClr val="1F1B2E"/>
                          </a:solidFill>
                          <a:latin typeface="Be Vietnam Pro"/>
                        </a:rPr>
                        <a:t>Thư mục Drive của nhóm</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c>
                  <a:txBody>
                    <a:bodyPr wrap="square"/>
                    <a:lstStyle/>
                    <a:p>
                      <a:pPr>
                        <a:lnSpc>
                          <a:spcPct val="100000"/>
                        </a:lnSpc>
                      </a:pPr>
                      <a:r>
                        <a:rPr sz="1350" b="0">
                          <a:solidFill>
                            <a:srgbClr val="1F1B2E"/>
                          </a:solidFill>
                          <a:latin typeface="Be Vietnam Pro"/>
                        </a:rPr>
                        <a:t>Chủ thư mục</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c>
                  <a:txBody>
                    <a:bodyPr wrap="square"/>
                    <a:lstStyle/>
                    <a:p>
                      <a:pPr>
                        <a:lnSpc>
                          <a:spcPct val="100000"/>
                        </a:lnSpc>
                      </a:pPr>
                      <a:r>
                        <a:rPr sz="1350" b="0">
                          <a:solidFill>
                            <a:srgbClr val="1F1B2E"/>
                          </a:solidFill>
                          <a:latin typeface="Be Vietnam Pro"/>
                        </a:rPr>
                        <a:t>Được chia sẻ quyền sửa</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c>
                  <a:txBody>
                    <a:bodyPr wrap="square"/>
                    <a:lstStyle/>
                    <a:p>
                      <a:pPr>
                        <a:lnSpc>
                          <a:spcPct val="100000"/>
                        </a:lnSpc>
                      </a:pPr>
                      <a:r>
                        <a:rPr sz="1350" b="0">
                          <a:solidFill>
                            <a:srgbClr val="1F1B2E"/>
                          </a:solidFill>
                          <a:latin typeface="Be Vietnam Pro"/>
                        </a:rPr>
                        <a:t>Không</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r>
              <a:tr h="457200">
                <a:tc>
                  <a:txBody>
                    <a:bodyPr wrap="square"/>
                    <a:lstStyle/>
                    <a:p>
                      <a:pPr>
                        <a:lnSpc>
                          <a:spcPct val="100000"/>
                        </a:lnSpc>
                      </a:pPr>
                      <a:r>
                        <a:rPr sz="1350" b="1">
                          <a:solidFill>
                            <a:srgbClr val="1F1B2E"/>
                          </a:solidFill>
                          <a:latin typeface="Be Vietnam Pro"/>
                        </a:rPr>
                        <a:t>Tài liệu của nhóm</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c>
                  <a:txBody>
                    <a:bodyPr wrap="square"/>
                    <a:lstStyle/>
                    <a:p>
                      <a:pPr>
                        <a:lnSpc>
                          <a:spcPct val="100000"/>
                        </a:lnSpc>
                      </a:pPr>
                      <a:r>
                        <a:rPr sz="1350" b="0">
                          <a:solidFill>
                            <a:srgbClr val="1F1B2E"/>
                          </a:solidFill>
                          <a:latin typeface="Be Vietnam Pro"/>
                        </a:rPr>
                        <a:t>Tải lên, xóa</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c>
                  <a:txBody>
                    <a:bodyPr wrap="square"/>
                    <a:lstStyle/>
                    <a:p>
                      <a:pPr>
                        <a:lnSpc>
                          <a:spcPct val="100000"/>
                        </a:lnSpc>
                      </a:pPr>
                      <a:r>
                        <a:rPr sz="1350" b="0">
                          <a:solidFill>
                            <a:srgbClr val="1F1B2E"/>
                          </a:solidFill>
                          <a:latin typeface="Be Vietnam Pro"/>
                        </a:rPr>
                        <a:t>Xem danh sách</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c>
                  <a:txBody>
                    <a:bodyPr wrap="square"/>
                    <a:lstStyle/>
                    <a:p>
                      <a:pPr>
                        <a:lnSpc>
                          <a:spcPct val="100000"/>
                        </a:lnSpc>
                      </a:pPr>
                      <a:r>
                        <a:rPr sz="1350" b="0">
                          <a:solidFill>
                            <a:srgbClr val="1F1B2E"/>
                          </a:solidFill>
                          <a:latin typeface="Be Vietnam Pro"/>
                        </a:rPr>
                        <a:t>Không</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r>
              <a:tr h="457200">
                <a:tc>
                  <a:txBody>
                    <a:bodyPr wrap="square"/>
                    <a:lstStyle/>
                    <a:p>
                      <a:pPr>
                        <a:lnSpc>
                          <a:spcPct val="100000"/>
                        </a:lnSpc>
                      </a:pPr>
                      <a:r>
                        <a:rPr sz="1350" b="1">
                          <a:solidFill>
                            <a:srgbClr val="1F1B2E"/>
                          </a:solidFill>
                          <a:latin typeface="Be Vietnam Pro"/>
                        </a:rPr>
                        <a:t>Mẫu biên bản của nhóm</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c>
                  <a:txBody>
                    <a:bodyPr wrap="square"/>
                    <a:lstStyle/>
                    <a:p>
                      <a:pPr>
                        <a:lnSpc>
                          <a:spcPct val="100000"/>
                        </a:lnSpc>
                      </a:pPr>
                      <a:r>
                        <a:rPr sz="1350" b="0">
                          <a:solidFill>
                            <a:srgbClr val="1F1B2E"/>
                          </a:solidFill>
                          <a:latin typeface="Be Vietnam Pro"/>
                        </a:rPr>
                        <a:t>Tạo, sửa, đặt mặc định</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c>
                  <a:txBody>
                    <a:bodyPr wrap="square"/>
                    <a:lstStyle/>
                    <a:p>
                      <a:pPr>
                        <a:lnSpc>
                          <a:spcPct val="100000"/>
                        </a:lnSpc>
                      </a:pPr>
                      <a:r>
                        <a:rPr sz="1350" b="0">
                          <a:solidFill>
                            <a:srgbClr val="1F1B2E"/>
                          </a:solidFill>
                          <a:latin typeface="Be Vietnam Pro"/>
                        </a:rPr>
                        <a:t>Dùng khi lập biên bản</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c>
                  <a:txBody>
                    <a:bodyPr wrap="square"/>
                    <a:lstStyle/>
                    <a:p>
                      <a:pPr>
                        <a:lnSpc>
                          <a:spcPct val="100000"/>
                        </a:lnSpc>
                      </a:pPr>
                      <a:r>
                        <a:rPr sz="1350" b="0">
                          <a:solidFill>
                            <a:srgbClr val="1F1B2E"/>
                          </a:solidFill>
                          <a:latin typeface="Be Vietnam Pro"/>
                        </a:rPr>
                        <a:t>Không</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r>
              <a:tr h="457200">
                <a:tc>
                  <a:txBody>
                    <a:bodyPr wrap="square"/>
                    <a:lstStyle/>
                    <a:p>
                      <a:pPr>
                        <a:lnSpc>
                          <a:spcPct val="100000"/>
                        </a:lnSpc>
                      </a:pPr>
                      <a:r>
                        <a:rPr sz="1350" b="1">
                          <a:solidFill>
                            <a:srgbClr val="1F1B2E"/>
                          </a:solidFill>
                          <a:latin typeface="Be Vietnam Pro"/>
                        </a:rPr>
                        <a:t>Hỏi trên mọi cuộc họp của nhóm</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c>
                  <a:txBody>
                    <a:bodyPr wrap="square"/>
                    <a:lstStyle/>
                    <a:p>
                      <a:pPr>
                        <a:lnSpc>
                          <a:spcPct val="100000"/>
                        </a:lnSpc>
                      </a:pPr>
                      <a:r>
                        <a:rPr sz="1350" b="0">
                          <a:solidFill>
                            <a:srgbClr val="1F1B2E"/>
                          </a:solidFill>
                          <a:latin typeface="Be Vietnam Pro"/>
                        </a:rPr>
                        <a:t>Có (bật chế độ BD)</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c>
                  <a:txBody>
                    <a:bodyPr wrap="square"/>
                    <a:lstStyle/>
                    <a:p>
                      <a:pPr>
                        <a:lnSpc>
                          <a:spcPct val="100000"/>
                        </a:lnSpc>
                      </a:pPr>
                      <a:r>
                        <a:rPr sz="1350" b="0">
                          <a:solidFill>
                            <a:srgbClr val="1F1B2E"/>
                          </a:solidFill>
                          <a:latin typeface="Be Vietnam Pro"/>
                        </a:rPr>
                        <a:t>Không</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c>
                  <a:txBody>
                    <a:bodyPr wrap="square"/>
                    <a:lstStyle/>
                    <a:p>
                      <a:pPr>
                        <a:lnSpc>
                          <a:spcPct val="100000"/>
                        </a:lnSpc>
                      </a:pPr>
                      <a:r>
                        <a:rPr sz="1350" b="0">
                          <a:solidFill>
                            <a:srgbClr val="1F1B2E"/>
                          </a:solidFill>
                          <a:latin typeface="Be Vietnam Pro"/>
                        </a:rPr>
                        <a:t>Không</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FFFFF"/>
                    </a:solidFill>
                  </a:tcPr>
                </a:tc>
              </a:tr>
              <a:tr h="457200">
                <a:tc>
                  <a:txBody>
                    <a:bodyPr wrap="square"/>
                    <a:lstStyle/>
                    <a:p>
                      <a:pPr>
                        <a:lnSpc>
                          <a:spcPct val="100000"/>
                        </a:lnSpc>
                      </a:pPr>
                      <a:r>
                        <a:rPr sz="1350" b="1">
                          <a:solidFill>
                            <a:srgbClr val="1F1B2E"/>
                          </a:solidFill>
                          <a:latin typeface="Be Vietnam Pro"/>
                        </a:rPr>
                        <a:t>Cuộc họp cá nhân của mỗi người</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c>
                  <a:txBody>
                    <a:bodyPr wrap="square"/>
                    <a:lstStyle/>
                    <a:p>
                      <a:pPr>
                        <a:lnSpc>
                          <a:spcPct val="100000"/>
                        </a:lnSpc>
                      </a:pPr>
                      <a:r>
                        <a:rPr sz="1350" b="0">
                          <a:solidFill>
                            <a:srgbClr val="1F1B2E"/>
                          </a:solidFill>
                          <a:latin typeface="Be Vietnam Pro"/>
                        </a:rPr>
                        <a:t>Không, trừ khi đưa vào nhóm</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c>
                  <a:txBody>
                    <a:bodyPr wrap="square"/>
                    <a:lstStyle/>
                    <a:p>
                      <a:pPr>
                        <a:lnSpc>
                          <a:spcPct val="100000"/>
                        </a:lnSpc>
                      </a:pPr>
                      <a:r>
                        <a:rPr sz="1350" b="0">
                          <a:solidFill>
                            <a:srgbClr val="1F1B2E"/>
                          </a:solidFill>
                          <a:latin typeface="Be Vietnam Pro"/>
                        </a:rPr>
                        <a:t>Chỉ người tạo</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c>
                  <a:txBody>
                    <a:bodyPr wrap="square"/>
                    <a:lstStyle/>
                    <a:p>
                      <a:pPr>
                        <a:lnSpc>
                          <a:spcPct val="100000"/>
                        </a:lnSpc>
                      </a:pPr>
                      <a:r>
                        <a:rPr sz="1350" b="0">
                          <a:solidFill>
                            <a:srgbClr val="1F1B2E"/>
                          </a:solidFill>
                          <a:latin typeface="Be Vietnam Pro"/>
                        </a:rPr>
                        <a:t>Không</a:t>
                      </a:r>
                    </a:p>
                  </a:txBody>
                  <a:tcPr marL="128016" marR="128016" marT="36576" marB="36576" anchor="ctr">
                    <a:lnL w="9525" cap="flat" cmpd="sng" algn="ctr">
                      <a:solidFill>
                        <a:srgbClr val="E4DDF2"/>
                      </a:solidFill>
                      <a:prstDash val="solid"/>
                    </a:lnL>
                    <a:lnR w="9525" cap="flat" cmpd="sng" algn="ctr">
                      <a:solidFill>
                        <a:srgbClr val="E4DDF2"/>
                      </a:solidFill>
                      <a:prstDash val="solid"/>
                    </a:lnR>
                    <a:lnT w="9525" cap="flat" cmpd="sng" algn="ctr">
                      <a:solidFill>
                        <a:srgbClr val="E4DDF2"/>
                      </a:solidFill>
                      <a:prstDash val="solid"/>
                    </a:lnT>
                    <a:lnB w="9525" cap="flat" cmpd="sng" algn="ctr">
                      <a:solidFill>
                        <a:srgbClr val="E4DDF2"/>
                      </a:solidFill>
                      <a:prstDash val="solid"/>
                    </a:lnB>
                    <a:solidFill>
                      <a:srgbClr val="F5F3FA"/>
                    </a:solidFill>
                  </a:tcPr>
                </a:tc>
              </a:tr>
            </a:tbl>
          </a:graphicData>
        </a:graphic>
      </p:graphicFrame>
      <p:sp>
        <p:nvSpPr>
          <p:cNvPr id="6" name="note-box"/>
          <p:cNvSpPr/>
          <p:nvPr/>
        </p:nvSpPr>
        <p:spPr>
          <a:xfrm>
            <a:off x="548640" y="5440680"/>
            <a:ext cx="11094415" cy="749808"/>
          </a:xfrm>
          <a:prstGeom prst="roundRect">
            <a:avLst>
              <a:gd name="adj" fmla="val 21951"/>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ile"/>
          <p:cNvSpPr/>
          <p:nvPr/>
        </p:nvSpPr>
        <p:spPr>
          <a:xfrm>
            <a:off x="749808" y="5559552"/>
            <a:ext cx="512064" cy="512064"/>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icon" descr="ic-video-p.png"/>
          <p:cNvPicPr>
            <a:picLocks noChangeAspect="1"/>
          </p:cNvPicPr>
          <p:nvPr/>
        </p:nvPicPr>
        <p:blipFill>
          <a:blip r:embed="rId2"/>
          <a:stretch>
            <a:fillRect/>
          </a:stretch>
        </p:blipFill>
        <p:spPr>
          <a:xfrm>
            <a:off x="862462" y="5672206"/>
            <a:ext cx="286755" cy="286755"/>
          </a:xfrm>
          <a:prstGeom prst="rect">
            <a:avLst/>
          </a:prstGeom>
        </p:spPr>
      </p:pic>
      <p:sp>
        <p:nvSpPr>
          <p:cNvPr id="9" name="note"/>
          <p:cNvSpPr txBox="1"/>
          <p:nvPr/>
        </p:nvSpPr>
        <p:spPr>
          <a:xfrm>
            <a:off x="1444752" y="5458968"/>
            <a:ext cx="9997135" cy="713232"/>
          </a:xfrm>
          <a:prstGeom prst="rect">
            <a:avLst/>
          </a:prstGeom>
          <a:noFill/>
        </p:spPr>
        <p:txBody>
          <a:bodyPr wrap="square" lIns="0" rIns="0" tIns="0" bIns="0" anchor="ctr">
            <a:noAutofit/>
          </a:bodyPr>
          <a:lstStyle/>
          <a:p>
            <a:pPr algn="l">
              <a:lnSpc>
                <a:spcPct val="105000"/>
              </a:lnSpc>
              <a:spcAft>
                <a:spcPts val="0"/>
              </a:spcAft>
            </a:pPr>
            <a:r>
              <a:rPr sz="1300" b="0">
                <a:solidFill>
                  <a:srgbClr val="1F1B2E"/>
                </a:solidFill>
                <a:latin typeface="Be Vietnam Pro"/>
              </a:rPr>
              <a:t>Nhiều người dùng Copilot trong cùng một cuộc họp Google Meet: mỗi người một cuộc họp riêng, biên bản vào Drive của mình. Cuộc họp thuộc nhóm thì dùng chung một biên bản trong thư mục Drive của chủ nhóm.</a:t>
            </a:r>
          </a:p>
        </p:txBody>
      </p:sp>
      <p:pic>
        <p:nvPicPr>
          <p:cNvPr id="10" name="logo" descr="logo-purple.png"/>
          <p:cNvPicPr>
            <a:picLocks noChangeAspect="1"/>
          </p:cNvPicPr>
          <p:nvPr/>
        </p:nvPicPr>
        <p:blipFill>
          <a:blip r:embed="rId3"/>
          <a:stretch>
            <a:fillRect/>
          </a:stretch>
        </p:blipFill>
        <p:spPr>
          <a:xfrm>
            <a:off x="548640" y="6382512"/>
            <a:ext cx="850392" cy="237744"/>
          </a:xfrm>
          <a:prstGeom prst="rect">
            <a:avLst/>
          </a:prstGeom>
        </p:spPr>
      </p:pic>
      <p:sp>
        <p:nvSpPr>
          <p:cNvPr id="11"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12"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1548993"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5 · Recall.ai</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Recall.ai: bot tính phí ghi lại Google Meet</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Dịch vụ bên ngoài, chỉ dùng khi họp online; họp trực tiếp dùng mic trình duyệt, không cần bot</a:t>
            </a:r>
          </a:p>
        </p:txBody>
      </p:sp>
      <p:sp>
        <p:nvSpPr>
          <p:cNvPr id="5" name="badge"/>
          <p:cNvSpPr/>
          <p:nvPr/>
        </p:nvSpPr>
        <p:spPr>
          <a:xfrm>
            <a:off x="548640" y="2176272"/>
            <a:ext cx="365760" cy="365760"/>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1</a:t>
            </a:r>
          </a:p>
        </p:txBody>
      </p:sp>
      <p:sp>
        <p:nvSpPr>
          <p:cNvPr id="6" name="tile"/>
          <p:cNvSpPr/>
          <p:nvPr/>
        </p:nvSpPr>
        <p:spPr>
          <a:xfrm>
            <a:off x="1051560" y="2121408"/>
            <a:ext cx="475488" cy="475488"/>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icon" descr="ic-calendar-p.png"/>
          <p:cNvPicPr>
            <a:picLocks noChangeAspect="1"/>
          </p:cNvPicPr>
          <p:nvPr/>
        </p:nvPicPr>
        <p:blipFill>
          <a:blip r:embed="rId2"/>
          <a:stretch>
            <a:fillRect/>
          </a:stretch>
        </p:blipFill>
        <p:spPr>
          <a:xfrm>
            <a:off x="1156167" y="2226015"/>
            <a:ext cx="266273" cy="266273"/>
          </a:xfrm>
          <a:prstGeom prst="rect">
            <a:avLst/>
          </a:prstGeom>
        </p:spPr>
      </p:pic>
      <p:sp>
        <p:nvSpPr>
          <p:cNvPr id="8" name="step-h"/>
          <p:cNvSpPr txBox="1"/>
          <p:nvPr/>
        </p:nvSpPr>
        <p:spPr>
          <a:xfrm>
            <a:off x="1691640" y="2103120"/>
            <a:ext cx="4526280" cy="329184"/>
          </a:xfrm>
          <a:prstGeom prst="rect">
            <a:avLst/>
          </a:prstGeom>
          <a:noFill/>
        </p:spPr>
        <p:txBody>
          <a:bodyPr wrap="square" lIns="0" rIns="0" tIns="0" bIns="0" anchor="t">
            <a:noAutofit/>
          </a:bodyPr>
          <a:lstStyle/>
          <a:p>
            <a:pPr algn="l">
              <a:lnSpc>
                <a:spcPct val="110000"/>
              </a:lnSpc>
              <a:spcAft>
                <a:spcPts val="0"/>
              </a:spcAft>
            </a:pPr>
            <a:r>
              <a:rPr sz="1550" b="1">
                <a:solidFill>
                  <a:srgbClr val="1F1B2E"/>
                </a:solidFill>
                <a:latin typeface="Be Vietnam Pro"/>
              </a:rPr>
              <a:t>Hẹn bot</a:t>
            </a:r>
          </a:p>
        </p:txBody>
      </p:sp>
      <p:sp>
        <p:nvSpPr>
          <p:cNvPr id="9" name="step-t"/>
          <p:cNvSpPr txBox="1"/>
          <p:nvPr/>
        </p:nvSpPr>
        <p:spPr>
          <a:xfrm>
            <a:off x="1691640" y="2432303"/>
            <a:ext cx="4526280" cy="475488"/>
          </a:xfrm>
          <a:prstGeom prst="rect">
            <a:avLst/>
          </a:prstGeom>
          <a:noFill/>
        </p:spPr>
        <p:txBody>
          <a:bodyPr wrap="square" lIns="0" rIns="0" tIns="0" bIns="0" anchor="t">
            <a:noAutofit/>
          </a:bodyPr>
          <a:lstStyle/>
          <a:p>
            <a:pPr algn="l">
              <a:lnSpc>
                <a:spcPct val="100000"/>
              </a:lnSpc>
              <a:spcAft>
                <a:spcPts val="0"/>
              </a:spcAft>
            </a:pPr>
            <a:r>
              <a:rPr sz="1350" b="0">
                <a:solidFill>
                  <a:srgbClr val="5F5A73"/>
                </a:solidFill>
                <a:latin typeface="Be Vietnam Pro"/>
              </a:rPr>
              <a:t>Theo lịch (bật "Bot tự vào cuộc họp") hoặc dán link Google Meet</a:t>
            </a:r>
          </a:p>
        </p:txBody>
      </p:sp>
      <p:sp>
        <p:nvSpPr>
          <p:cNvPr id="10" name="badge"/>
          <p:cNvSpPr/>
          <p:nvPr/>
        </p:nvSpPr>
        <p:spPr>
          <a:xfrm>
            <a:off x="548640" y="3026664"/>
            <a:ext cx="365760" cy="365760"/>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2</a:t>
            </a:r>
          </a:p>
        </p:txBody>
      </p:sp>
      <p:sp>
        <p:nvSpPr>
          <p:cNvPr id="11" name="tile"/>
          <p:cNvSpPr/>
          <p:nvPr/>
        </p:nvSpPr>
        <p:spPr>
          <a:xfrm>
            <a:off x="1051560" y="2971800"/>
            <a:ext cx="475488" cy="475488"/>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icon" descr="ic-users-p.png"/>
          <p:cNvPicPr>
            <a:picLocks noChangeAspect="1"/>
          </p:cNvPicPr>
          <p:nvPr/>
        </p:nvPicPr>
        <p:blipFill>
          <a:blip r:embed="rId3"/>
          <a:stretch>
            <a:fillRect/>
          </a:stretch>
        </p:blipFill>
        <p:spPr>
          <a:xfrm>
            <a:off x="1156167" y="3076407"/>
            <a:ext cx="266273" cy="266273"/>
          </a:xfrm>
          <a:prstGeom prst="rect">
            <a:avLst/>
          </a:prstGeom>
        </p:spPr>
      </p:pic>
      <p:sp>
        <p:nvSpPr>
          <p:cNvPr id="13" name="step-h"/>
          <p:cNvSpPr txBox="1"/>
          <p:nvPr/>
        </p:nvSpPr>
        <p:spPr>
          <a:xfrm>
            <a:off x="1691640" y="2953512"/>
            <a:ext cx="4526280" cy="329184"/>
          </a:xfrm>
          <a:prstGeom prst="rect">
            <a:avLst/>
          </a:prstGeom>
          <a:noFill/>
        </p:spPr>
        <p:txBody>
          <a:bodyPr wrap="square" lIns="0" rIns="0" tIns="0" bIns="0" anchor="t">
            <a:noAutofit/>
          </a:bodyPr>
          <a:lstStyle/>
          <a:p>
            <a:pPr algn="l">
              <a:lnSpc>
                <a:spcPct val="110000"/>
              </a:lnSpc>
              <a:spcAft>
                <a:spcPts val="0"/>
              </a:spcAft>
            </a:pPr>
            <a:r>
              <a:rPr sz="1550" b="1">
                <a:solidFill>
                  <a:srgbClr val="1F1B2E"/>
                </a:solidFill>
                <a:latin typeface="Be Vietnam Pro"/>
              </a:rPr>
              <a:t>Xin vào như khách</a:t>
            </a:r>
          </a:p>
        </p:txBody>
      </p:sp>
      <p:sp>
        <p:nvSpPr>
          <p:cNvPr id="14" name="step-t"/>
          <p:cNvSpPr txBox="1"/>
          <p:nvPr/>
        </p:nvSpPr>
        <p:spPr>
          <a:xfrm>
            <a:off x="1691640" y="3282696"/>
            <a:ext cx="4526280" cy="475488"/>
          </a:xfrm>
          <a:prstGeom prst="rect">
            <a:avLst/>
          </a:prstGeom>
          <a:noFill/>
        </p:spPr>
        <p:txBody>
          <a:bodyPr wrap="square" lIns="0" rIns="0" tIns="0" bIns="0" anchor="t">
            <a:noAutofit/>
          </a:bodyPr>
          <a:lstStyle/>
          <a:p>
            <a:pPr algn="l">
              <a:lnSpc>
                <a:spcPct val="100000"/>
              </a:lnSpc>
              <a:spcAft>
                <a:spcPts val="0"/>
              </a:spcAft>
            </a:pPr>
            <a:r>
              <a:rPr sz="1350" b="0">
                <a:solidFill>
                  <a:srgbClr val="5F5A73"/>
                </a:solidFill>
                <a:latin typeface="Be Vietnam Pro"/>
              </a:rPr>
              <a:t>Người trong cuộc họp bấm Cho vào; bot báo trong chat là cuộc họp được chép lời</a:t>
            </a:r>
          </a:p>
        </p:txBody>
      </p:sp>
      <p:sp>
        <p:nvSpPr>
          <p:cNvPr id="15" name="badge"/>
          <p:cNvSpPr/>
          <p:nvPr/>
        </p:nvSpPr>
        <p:spPr>
          <a:xfrm>
            <a:off x="548640" y="3877056"/>
            <a:ext cx="365760" cy="365760"/>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3</a:t>
            </a:r>
          </a:p>
        </p:txBody>
      </p:sp>
      <p:sp>
        <p:nvSpPr>
          <p:cNvPr id="16" name="tile"/>
          <p:cNvSpPr/>
          <p:nvPr/>
        </p:nvSpPr>
        <p:spPr>
          <a:xfrm>
            <a:off x="1051560" y="3822191"/>
            <a:ext cx="475488" cy="475488"/>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descr="ic-wave-p.png"/>
          <p:cNvPicPr>
            <a:picLocks noChangeAspect="1"/>
          </p:cNvPicPr>
          <p:nvPr/>
        </p:nvPicPr>
        <p:blipFill>
          <a:blip r:embed="rId4"/>
          <a:stretch>
            <a:fillRect/>
          </a:stretch>
        </p:blipFill>
        <p:spPr>
          <a:xfrm>
            <a:off x="1156167" y="3926799"/>
            <a:ext cx="266273" cy="266273"/>
          </a:xfrm>
          <a:prstGeom prst="rect">
            <a:avLst/>
          </a:prstGeom>
        </p:spPr>
      </p:pic>
      <p:sp>
        <p:nvSpPr>
          <p:cNvPr id="18" name="step-h"/>
          <p:cNvSpPr txBox="1"/>
          <p:nvPr/>
        </p:nvSpPr>
        <p:spPr>
          <a:xfrm>
            <a:off x="1691640" y="3803904"/>
            <a:ext cx="4526280" cy="329184"/>
          </a:xfrm>
          <a:prstGeom prst="rect">
            <a:avLst/>
          </a:prstGeom>
          <a:noFill/>
        </p:spPr>
        <p:txBody>
          <a:bodyPr wrap="square" lIns="0" rIns="0" tIns="0" bIns="0" anchor="t">
            <a:noAutofit/>
          </a:bodyPr>
          <a:lstStyle/>
          <a:p>
            <a:pPr algn="l">
              <a:lnSpc>
                <a:spcPct val="110000"/>
              </a:lnSpc>
              <a:spcAft>
                <a:spcPts val="0"/>
              </a:spcAft>
            </a:pPr>
            <a:r>
              <a:rPr sz="1550" b="1">
                <a:solidFill>
                  <a:srgbClr val="1F1B2E"/>
                </a:solidFill>
                <a:latin typeface="Be Vietnam Pro"/>
              </a:rPr>
              <a:t>Chép lời từng người</a:t>
            </a:r>
          </a:p>
        </p:txBody>
      </p:sp>
      <p:sp>
        <p:nvSpPr>
          <p:cNvPr id="19" name="step-t"/>
          <p:cNvSpPr txBox="1"/>
          <p:nvPr/>
        </p:nvSpPr>
        <p:spPr>
          <a:xfrm>
            <a:off x="1691640" y="4133088"/>
            <a:ext cx="4526280" cy="475488"/>
          </a:xfrm>
          <a:prstGeom prst="rect">
            <a:avLst/>
          </a:prstGeom>
          <a:noFill/>
        </p:spPr>
        <p:txBody>
          <a:bodyPr wrap="square" lIns="0" rIns="0" tIns="0" bIns="0" anchor="t">
            <a:noAutofit/>
          </a:bodyPr>
          <a:lstStyle/>
          <a:p>
            <a:pPr algn="l">
              <a:lnSpc>
                <a:spcPct val="100000"/>
              </a:lnSpc>
              <a:spcAft>
                <a:spcPts val="0"/>
              </a:spcAft>
            </a:pPr>
            <a:r>
              <a:rPr sz="1350" b="0">
                <a:solidFill>
                  <a:srgbClr val="5F5A73"/>
                </a:solidFill>
                <a:latin typeface="Be Vietnam Pro"/>
              </a:rPr>
              <a:t>Mỗi người một luồng, đúng tên trong Meet, về Copilot theo thời gian thực</a:t>
            </a:r>
          </a:p>
        </p:txBody>
      </p:sp>
      <p:sp>
        <p:nvSpPr>
          <p:cNvPr id="20" name="badge"/>
          <p:cNvSpPr/>
          <p:nvPr/>
        </p:nvSpPr>
        <p:spPr>
          <a:xfrm>
            <a:off x="548640" y="4727448"/>
            <a:ext cx="365760" cy="365760"/>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4</a:t>
            </a:r>
          </a:p>
        </p:txBody>
      </p:sp>
      <p:sp>
        <p:nvSpPr>
          <p:cNvPr id="21" name="tile"/>
          <p:cNvSpPr/>
          <p:nvPr/>
        </p:nvSpPr>
        <p:spPr>
          <a:xfrm>
            <a:off x="1051560" y="4672583"/>
            <a:ext cx="475488" cy="475488"/>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descr="ic-check-p.png"/>
          <p:cNvPicPr>
            <a:picLocks noChangeAspect="1"/>
          </p:cNvPicPr>
          <p:nvPr/>
        </p:nvPicPr>
        <p:blipFill>
          <a:blip r:embed="rId5"/>
          <a:stretch>
            <a:fillRect/>
          </a:stretch>
        </p:blipFill>
        <p:spPr>
          <a:xfrm>
            <a:off x="1156167" y="4777191"/>
            <a:ext cx="266273" cy="266273"/>
          </a:xfrm>
          <a:prstGeom prst="rect">
            <a:avLst/>
          </a:prstGeom>
        </p:spPr>
      </p:pic>
      <p:sp>
        <p:nvSpPr>
          <p:cNvPr id="23" name="step-h"/>
          <p:cNvSpPr txBox="1"/>
          <p:nvPr/>
        </p:nvSpPr>
        <p:spPr>
          <a:xfrm>
            <a:off x="1691640" y="4654296"/>
            <a:ext cx="4526280" cy="329184"/>
          </a:xfrm>
          <a:prstGeom prst="rect">
            <a:avLst/>
          </a:prstGeom>
          <a:noFill/>
        </p:spPr>
        <p:txBody>
          <a:bodyPr wrap="square" lIns="0" rIns="0" tIns="0" bIns="0" anchor="t">
            <a:noAutofit/>
          </a:bodyPr>
          <a:lstStyle/>
          <a:p>
            <a:pPr algn="l">
              <a:lnSpc>
                <a:spcPct val="110000"/>
              </a:lnSpc>
              <a:spcAft>
                <a:spcPts val="0"/>
              </a:spcAft>
            </a:pPr>
            <a:r>
              <a:rPr sz="1550" b="1">
                <a:solidFill>
                  <a:srgbClr val="1F1B2E"/>
                </a:solidFill>
                <a:latin typeface="Be Vietnam Pro"/>
              </a:rPr>
              <a:t>Tự rời, tự dọn</a:t>
            </a:r>
          </a:p>
        </p:txBody>
      </p:sp>
      <p:sp>
        <p:nvSpPr>
          <p:cNvPr id="24" name="step-t"/>
          <p:cNvSpPr txBox="1"/>
          <p:nvPr/>
        </p:nvSpPr>
        <p:spPr>
          <a:xfrm>
            <a:off x="1691640" y="4983480"/>
            <a:ext cx="4526280" cy="475488"/>
          </a:xfrm>
          <a:prstGeom prst="rect">
            <a:avLst/>
          </a:prstGeom>
          <a:noFill/>
        </p:spPr>
        <p:txBody>
          <a:bodyPr wrap="square" lIns="0" rIns="0" tIns="0" bIns="0" anchor="t">
            <a:noAutofit/>
          </a:bodyPr>
          <a:lstStyle/>
          <a:p>
            <a:pPr algn="l">
              <a:lnSpc>
                <a:spcPct val="100000"/>
              </a:lnSpc>
              <a:spcAft>
                <a:spcPts val="0"/>
              </a:spcAft>
            </a:pPr>
            <a:r>
              <a:rPr sz="1350" b="0">
                <a:solidFill>
                  <a:srgbClr val="5F5A73"/>
                </a:solidFill>
                <a:latin typeface="Be Vietnam Pro"/>
              </a:rPr>
              <a:t>Mọi người rời 60 giây thì bot rời, biên bản lập ngay; bản ghi trên Recall xóa ngay</a:t>
            </a:r>
          </a:p>
        </p:txBody>
      </p:sp>
      <p:sp>
        <p:nvSpPr>
          <p:cNvPr id="25" name="cost"/>
          <p:cNvSpPr/>
          <p:nvPr/>
        </p:nvSpPr>
        <p:spPr>
          <a:xfrm>
            <a:off x="6400800" y="2103120"/>
            <a:ext cx="5242255" cy="2788920"/>
          </a:xfrm>
          <a:prstGeom prst="roundRect">
            <a:avLst>
              <a:gd name="adj" fmla="val 7213"/>
            </a:avLst>
          </a:prstGeom>
          <a:solidFill>
            <a:srgbClr val="682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ost-label"/>
          <p:cNvSpPr txBox="1"/>
          <p:nvPr/>
        </p:nvSpPr>
        <p:spPr>
          <a:xfrm>
            <a:off x="6720840" y="2240280"/>
            <a:ext cx="4602175" cy="320040"/>
          </a:xfrm>
          <a:prstGeom prst="rect">
            <a:avLst/>
          </a:prstGeom>
          <a:noFill/>
        </p:spPr>
        <p:txBody>
          <a:bodyPr wrap="square" lIns="0" rIns="0" tIns="0" bIns="0" anchor="t">
            <a:noAutofit/>
          </a:bodyPr>
          <a:lstStyle/>
          <a:p>
            <a:pPr algn="l">
              <a:lnSpc>
                <a:spcPct val="110000"/>
              </a:lnSpc>
              <a:spcAft>
                <a:spcPts val="0"/>
              </a:spcAft>
            </a:pPr>
            <a:r>
              <a:rPr sz="1150" b="1">
                <a:solidFill>
                  <a:srgbClr val="E9DDFB"/>
                </a:solidFill>
                <a:latin typeface="Be Vietnam Pro"/>
              </a:rPr>
              <a:t>CHI PHÍ THAM KHẢO</a:t>
            </a:r>
          </a:p>
        </p:txBody>
      </p:sp>
      <p:sp>
        <p:nvSpPr>
          <p:cNvPr id="27" name="cost-big"/>
          <p:cNvSpPr txBox="1"/>
          <p:nvPr/>
        </p:nvSpPr>
        <p:spPr>
          <a:xfrm>
            <a:off x="6720840" y="2542032"/>
            <a:ext cx="4602175" cy="685800"/>
          </a:xfrm>
          <a:prstGeom prst="rect">
            <a:avLst/>
          </a:prstGeom>
          <a:noFill/>
        </p:spPr>
        <p:txBody>
          <a:bodyPr wrap="square" lIns="0" rIns="0" tIns="0" bIns="0" anchor="t">
            <a:noAutofit/>
          </a:bodyPr>
          <a:lstStyle/>
          <a:p>
            <a:pPr algn="l">
              <a:lnSpc>
                <a:spcPct val="100000"/>
              </a:lnSpc>
              <a:spcAft>
                <a:spcPts val="0"/>
              </a:spcAft>
            </a:pPr>
            <a:r>
              <a:rPr sz="3600" b="1">
                <a:solidFill>
                  <a:srgbClr val="FFB700"/>
                </a:solidFill>
                <a:latin typeface="Be Vietnam Pro"/>
              </a:rPr>
              <a:t>0,5 USD / giờ</a:t>
            </a:r>
          </a:p>
        </p:txBody>
      </p:sp>
      <p:sp>
        <p:nvSpPr>
          <p:cNvPr id="28" name="cost-list"/>
          <p:cNvSpPr txBox="1"/>
          <p:nvPr/>
        </p:nvSpPr>
        <p:spPr>
          <a:xfrm>
            <a:off x="6720840" y="3273552"/>
            <a:ext cx="4602175" cy="1554480"/>
          </a:xfrm>
          <a:prstGeom prst="rect">
            <a:avLst/>
          </a:prstGeom>
          <a:noFill/>
        </p:spPr>
        <p:txBody>
          <a:bodyPr wrap="square" lIns="0" rIns="0" tIns="0" bIns="0" anchor="t">
            <a:noAutofit/>
          </a:bodyPr>
          <a:lstStyle/>
          <a:p>
            <a:pPr algn="l" marL="219456" indent="-219456">
              <a:lnSpc>
                <a:spcPct val="105000"/>
              </a:lnSpc>
              <a:spcAft>
                <a:spcPts val="500"/>
              </a:spcAft>
              <a:buClr>
                <a:srgbClr val="FFB700"/>
              </a:buClr>
              <a:buSzPct val="100000"/>
              <a:buFont typeface="Arial"/>
              <a:buChar char="•"/>
            </a:pPr>
            <a:r>
              <a:rPr sz="1350" b="0">
                <a:solidFill>
                  <a:srgbClr val="FFFFFF"/>
                </a:solidFill>
                <a:latin typeface="Be Vietnam Pro"/>
              </a:rPr>
              <a:t>Khoảng 12.500đ mỗi giờ bot ở trong cuộc họp</a:t>
            </a:r>
          </a:p>
          <a:p>
            <a:pPr algn="l" marL="219456" indent="-219456">
              <a:lnSpc>
                <a:spcPct val="105000"/>
              </a:lnSpc>
              <a:spcAft>
                <a:spcPts val="500"/>
              </a:spcAft>
              <a:buClr>
                <a:srgbClr val="FFB700"/>
              </a:buClr>
              <a:buSzPct val="100000"/>
              <a:buFont typeface="Arial"/>
              <a:buChar char="•"/>
            </a:pPr>
            <a:r>
              <a:rPr sz="1350" b="0">
                <a:solidFill>
                  <a:srgbClr val="FFFFFF"/>
                </a:solidFill>
                <a:latin typeface="Be Vietnam Pro"/>
              </a:rPr>
              <a:t>80 giờ có bot mỗi tháng: khoảng 40 USD, tức 1.000.000đ</a:t>
            </a:r>
          </a:p>
          <a:p>
            <a:pPr algn="l" marL="219456" indent="-219456">
              <a:lnSpc>
                <a:spcPct val="105000"/>
              </a:lnSpc>
              <a:spcAft>
                <a:spcPts val="500"/>
              </a:spcAft>
              <a:buClr>
                <a:srgbClr val="FFB700"/>
              </a:buClr>
              <a:buSzPct val="100000"/>
              <a:buFont typeface="Arial"/>
              <a:buChar char="•"/>
            </a:pPr>
            <a:r>
              <a:rPr sz="1350" b="0">
                <a:solidFill>
                  <a:srgbClr val="FFFFFF"/>
                </a:solidFill>
                <a:latin typeface="Be Vietnam Pro"/>
              </a:rPr>
              <a:t>Một bot cho cả cuộc họp, dù nhiều người dùng Copilot</a:t>
            </a:r>
          </a:p>
        </p:txBody>
      </p:sp>
      <p:sp>
        <p:nvSpPr>
          <p:cNvPr id="29" name="cost-note"/>
          <p:cNvSpPr txBox="1"/>
          <p:nvPr/>
        </p:nvSpPr>
        <p:spPr>
          <a:xfrm>
            <a:off x="6400800" y="4965192"/>
            <a:ext cx="5242255" cy="457200"/>
          </a:xfrm>
          <a:prstGeom prst="rect">
            <a:avLst/>
          </a:prstGeom>
          <a:noFill/>
        </p:spPr>
        <p:txBody>
          <a:bodyPr wrap="square" lIns="0" rIns="0" tIns="0" bIns="0" anchor="t">
            <a:noAutofit/>
          </a:bodyPr>
          <a:lstStyle/>
          <a:p>
            <a:pPr algn="l">
              <a:lnSpc>
                <a:spcPct val="105000"/>
              </a:lnSpc>
              <a:spcAft>
                <a:spcPts val="0"/>
              </a:spcAft>
            </a:pPr>
            <a:r>
              <a:rPr sz="1100" b="0">
                <a:solidFill>
                  <a:srgbClr val="5F5A73"/>
                </a:solidFill>
                <a:latin typeface="Be Vietnam Pro"/>
              </a:rPr>
              <a:t>Theo trang giá Recall.ai 19/10/2026, tỷ giá 25.000đ/USD; chép lời Soniox tính riêng. Ngân sách cần Tài chính xác nhận.</a:t>
            </a:r>
          </a:p>
        </p:txBody>
      </p:sp>
      <p:sp>
        <p:nvSpPr>
          <p:cNvPr id="30" name="status"/>
          <p:cNvSpPr/>
          <p:nvPr/>
        </p:nvSpPr>
        <p:spPr>
          <a:xfrm>
            <a:off x="548640" y="5596128"/>
            <a:ext cx="11094415" cy="603504"/>
          </a:xfrm>
          <a:prstGeom prst="roundRect">
            <a:avLst>
              <a:gd name="adj" fmla="val 27272"/>
            </a:avLst>
          </a:prstGeom>
          <a:solidFill>
            <a:srgbClr val="FFF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tatus-t"/>
          <p:cNvSpPr txBox="1"/>
          <p:nvPr/>
        </p:nvSpPr>
        <p:spPr>
          <a:xfrm>
            <a:off x="822959" y="5614416"/>
            <a:ext cx="10545775" cy="566928"/>
          </a:xfrm>
          <a:prstGeom prst="rect">
            <a:avLst/>
          </a:prstGeom>
          <a:noFill/>
        </p:spPr>
        <p:txBody>
          <a:bodyPr wrap="square" lIns="0" rIns="0" tIns="0" bIns="0" anchor="ctr">
            <a:noAutofit/>
          </a:bodyPr>
          <a:lstStyle/>
          <a:p>
            <a:pPr algn="l">
              <a:lnSpc>
                <a:spcPct val="110000"/>
              </a:lnSpc>
              <a:spcAft>
                <a:spcPts val="0"/>
              </a:spcAft>
            </a:pPr>
            <a:r>
              <a:rPr sz="1350" b="1">
                <a:solidFill>
                  <a:srgbClr val="1F1B2E"/>
                </a:solidFill>
                <a:latin typeface="Be Vietnam Pro"/>
              </a:rPr>
              <a:t>Hiện trạng:</a:t>
            </a:r>
            <a:r>
              <a:rPr sz="1350" b="0">
                <a:solidFill>
                  <a:srgbClr val="1F1B2E"/>
                </a:solidFill>
                <a:latin typeface="Be Vietnam Pro"/>
              </a:rPr>
              <a:t> tài khoản Recall.ai của công ty hết credit từ 13/10/2026, bot chưa vào được Google Meet cho tới khi nạp thêm.</a:t>
            </a:r>
          </a:p>
        </p:txBody>
      </p:sp>
      <p:pic>
        <p:nvPicPr>
          <p:cNvPr id="32" name="logo" descr="logo-purple.png"/>
          <p:cNvPicPr>
            <a:picLocks noChangeAspect="1"/>
          </p:cNvPicPr>
          <p:nvPr/>
        </p:nvPicPr>
        <p:blipFill>
          <a:blip r:embed="rId6"/>
          <a:stretch>
            <a:fillRect/>
          </a:stretch>
        </p:blipFill>
        <p:spPr>
          <a:xfrm>
            <a:off x="548640" y="6382512"/>
            <a:ext cx="850392" cy="237744"/>
          </a:xfrm>
          <a:prstGeom prst="rect">
            <a:avLst/>
          </a:prstGeom>
        </p:spPr>
      </p:pic>
      <p:sp>
        <p:nvSpPr>
          <p:cNvPr id="33"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34"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1369771"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6 · Lưu trữ</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Lưu trữ cả trong lúc họp và sau buổi họp</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Realtime: từng câu lưu ngay khi nói xong. Sau buổi: biên bản, ghi âm, Google Drive, máy tính</a:t>
            </a:r>
          </a:p>
        </p:txBody>
      </p:sp>
      <p:sp>
        <p:nvSpPr>
          <p:cNvPr id="5" name="card"/>
          <p:cNvSpPr/>
          <p:nvPr/>
        </p:nvSpPr>
        <p:spPr>
          <a:xfrm>
            <a:off x="548640" y="2103120"/>
            <a:ext cx="5410047" cy="3383280"/>
          </a:xfrm>
          <a:prstGeom prst="roundRect">
            <a:avLst>
              <a:gd name="adj" fmla="val 5405"/>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ile"/>
          <p:cNvSpPr/>
          <p:nvPr/>
        </p:nvSpPr>
        <p:spPr>
          <a:xfrm>
            <a:off x="822959" y="2304288"/>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icon" descr="ic-clock-p.png"/>
          <p:cNvPicPr>
            <a:picLocks noChangeAspect="1"/>
          </p:cNvPicPr>
          <p:nvPr/>
        </p:nvPicPr>
        <p:blipFill>
          <a:blip r:embed="rId2"/>
          <a:stretch>
            <a:fillRect/>
          </a:stretch>
        </p:blipFill>
        <p:spPr>
          <a:xfrm>
            <a:off x="943660" y="2424988"/>
            <a:ext cx="307238" cy="307238"/>
          </a:xfrm>
          <a:prstGeom prst="rect">
            <a:avLst/>
          </a:prstGeom>
        </p:spPr>
      </p:pic>
      <p:sp>
        <p:nvSpPr>
          <p:cNvPr id="8" name="card-head"/>
          <p:cNvSpPr txBox="1"/>
          <p:nvPr/>
        </p:nvSpPr>
        <p:spPr>
          <a:xfrm>
            <a:off x="1536192" y="2304288"/>
            <a:ext cx="4129887" cy="548640"/>
          </a:xfrm>
          <a:prstGeom prst="rect">
            <a:avLst/>
          </a:prstGeom>
          <a:noFill/>
        </p:spPr>
        <p:txBody>
          <a:bodyPr wrap="square" lIns="0" rIns="0" tIns="0" bIns="0" anchor="ctr">
            <a:noAutofit/>
          </a:bodyPr>
          <a:lstStyle/>
          <a:p>
            <a:pPr algn="l">
              <a:lnSpc>
                <a:spcPct val="110000"/>
              </a:lnSpc>
              <a:spcAft>
                <a:spcPts val="0"/>
              </a:spcAft>
            </a:pPr>
            <a:r>
              <a:rPr sz="1800" b="1">
                <a:solidFill>
                  <a:srgbClr val="1F1B2E"/>
                </a:solidFill>
                <a:latin typeface="Be Vietnam Pro"/>
              </a:rPr>
              <a:t>Trong lúc họp (realtime)</a:t>
            </a:r>
          </a:p>
        </p:txBody>
      </p:sp>
      <p:sp>
        <p:nvSpPr>
          <p:cNvPr id="9" name="card-list"/>
          <p:cNvSpPr txBox="1"/>
          <p:nvPr/>
        </p:nvSpPr>
        <p:spPr>
          <a:xfrm>
            <a:off x="822959" y="3035808"/>
            <a:ext cx="4861407" cy="2377440"/>
          </a:xfrm>
          <a:prstGeom prst="rect">
            <a:avLst/>
          </a:prstGeom>
          <a:noFill/>
        </p:spPr>
        <p:txBody>
          <a:bodyPr wrap="square" lIns="0" rIns="0" tIns="0" bIns="0" anchor="t">
            <a:noAutofit/>
          </a:bodyPr>
          <a:lstStyle/>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Mỗi câu lưu ngay vào MongoDB Atlas của UrBox khi vừa nói xong</a:t>
            </a:r>
          </a:p>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Tên người nói cập nhật liền trên lời thoại đã lưu</a:t>
            </a:r>
          </a:p>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Rớt mạng: tự nối lại, phát lại phần âm thanh vừa lỡ (tối đa 15 giây)</a:t>
            </a:r>
          </a:p>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Nhiều người cùng xem trực tiếp; mỗi người dùng Copilot có cuộc họp riêng</a:t>
            </a:r>
          </a:p>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Ghi âm lưu song song, chỉ khi mọi người đồng ý</a:t>
            </a:r>
          </a:p>
        </p:txBody>
      </p:sp>
      <p:sp>
        <p:nvSpPr>
          <p:cNvPr id="10" name="card"/>
          <p:cNvSpPr/>
          <p:nvPr/>
        </p:nvSpPr>
        <p:spPr>
          <a:xfrm>
            <a:off x="6233007" y="2103120"/>
            <a:ext cx="5410047" cy="3383280"/>
          </a:xfrm>
          <a:prstGeom prst="roundRect">
            <a:avLst>
              <a:gd name="adj" fmla="val 5405"/>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ile"/>
          <p:cNvSpPr/>
          <p:nvPr/>
        </p:nvSpPr>
        <p:spPr>
          <a:xfrm>
            <a:off x="6507327" y="2304288"/>
            <a:ext cx="548640" cy="548640"/>
          </a:xfrm>
          <a:prstGeom prst="roundRect">
            <a:avLst>
              <a:gd name="adj" fmla="val 28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icon" descr="ic-folder-p.png"/>
          <p:cNvPicPr>
            <a:picLocks noChangeAspect="1"/>
          </p:cNvPicPr>
          <p:nvPr/>
        </p:nvPicPr>
        <p:blipFill>
          <a:blip r:embed="rId3"/>
          <a:stretch>
            <a:fillRect/>
          </a:stretch>
        </p:blipFill>
        <p:spPr>
          <a:xfrm>
            <a:off x="6628028" y="2424988"/>
            <a:ext cx="307238" cy="307238"/>
          </a:xfrm>
          <a:prstGeom prst="rect">
            <a:avLst/>
          </a:prstGeom>
        </p:spPr>
      </p:pic>
      <p:sp>
        <p:nvSpPr>
          <p:cNvPr id="13" name="card-head"/>
          <p:cNvSpPr txBox="1"/>
          <p:nvPr/>
        </p:nvSpPr>
        <p:spPr>
          <a:xfrm>
            <a:off x="7220559" y="2304288"/>
            <a:ext cx="4129887" cy="548640"/>
          </a:xfrm>
          <a:prstGeom prst="rect">
            <a:avLst/>
          </a:prstGeom>
          <a:noFill/>
        </p:spPr>
        <p:txBody>
          <a:bodyPr wrap="square" lIns="0" rIns="0" tIns="0" bIns="0" anchor="ctr">
            <a:noAutofit/>
          </a:bodyPr>
          <a:lstStyle/>
          <a:p>
            <a:pPr algn="l">
              <a:lnSpc>
                <a:spcPct val="110000"/>
              </a:lnSpc>
              <a:spcAft>
                <a:spcPts val="0"/>
              </a:spcAft>
            </a:pPr>
            <a:r>
              <a:rPr sz="1800" b="1">
                <a:solidFill>
                  <a:srgbClr val="1F1B2E"/>
                </a:solidFill>
                <a:latin typeface="Be Vietnam Pro"/>
              </a:rPr>
              <a:t>Sau buổi họp</a:t>
            </a:r>
          </a:p>
        </p:txBody>
      </p:sp>
      <p:sp>
        <p:nvSpPr>
          <p:cNvPr id="14" name="card-list"/>
          <p:cNvSpPr txBox="1"/>
          <p:nvPr/>
        </p:nvSpPr>
        <p:spPr>
          <a:xfrm>
            <a:off x="6507327" y="3035808"/>
            <a:ext cx="4861407" cy="2377440"/>
          </a:xfrm>
          <a:prstGeom prst="rect">
            <a:avLst/>
          </a:prstGeom>
          <a:noFill/>
        </p:spPr>
        <p:txBody>
          <a:bodyPr wrap="square" lIns="0" rIns="0" tIns="0" bIns="0" anchor="t">
            <a:noAutofit/>
          </a:bodyPr>
          <a:lstStyle/>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Biên bản tự lập theo mẫu ngay khi kết thúc</a:t>
            </a:r>
          </a:p>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Google Drive: nhóm vào thư mục của chủ nhóm, cá nhân vào Drive của mình</a:t>
            </a:r>
          </a:p>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Tải Word, MP3; tự lưu về thư mục trên máy</a:t>
            </a:r>
          </a:p>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Ghi âm tự xóa sau 30 ngày; biên bản giữ lâu dài</a:t>
            </a:r>
          </a:p>
          <a:p>
            <a:pPr algn="l" marL="219456" indent="-219456">
              <a:lnSpc>
                <a:spcPct val="105000"/>
              </a:lnSpc>
              <a:spcAft>
                <a:spcPts val="500"/>
              </a:spcAft>
              <a:buClr>
                <a:srgbClr val="6821C2"/>
              </a:buClr>
              <a:buSzPct val="100000"/>
              <a:buFont typeface="Arial"/>
              <a:buChar char="•"/>
            </a:pPr>
            <a:r>
              <a:rPr sz="1400" b="0">
                <a:solidFill>
                  <a:srgbClr val="1F1B2E"/>
                </a:solidFill>
                <a:latin typeface="Be Vietnam Pro"/>
              </a:rPr>
              <a:t>Tìm lại, hỏi lại cuộc họp cũ; xuất Markdown, JSON</a:t>
            </a:r>
          </a:p>
        </p:txBody>
      </p:sp>
      <p:sp>
        <p:nvSpPr>
          <p:cNvPr id="15" name="chip"/>
          <p:cNvSpPr/>
          <p:nvPr/>
        </p:nvSpPr>
        <p:spPr>
          <a:xfrm>
            <a:off x="548640" y="5687568"/>
            <a:ext cx="2636443" cy="502920"/>
          </a:xfrm>
          <a:prstGeom prst="roundRect">
            <a:avLst>
              <a:gd name="adj" fmla="val 49090"/>
            </a:avLst>
          </a:prstGeom>
          <a:solidFill>
            <a:srgbClr val="FFFFFF"/>
          </a:solidFill>
          <a:ln w="12700">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Lưu ở Atlas, Drive của UrBox</a:t>
            </a:r>
          </a:p>
        </p:txBody>
      </p:sp>
      <p:sp>
        <p:nvSpPr>
          <p:cNvPr id="16" name="chip"/>
          <p:cNvSpPr/>
          <p:nvPr/>
        </p:nvSpPr>
        <p:spPr>
          <a:xfrm>
            <a:off x="3367963" y="5687568"/>
            <a:ext cx="2636443" cy="502920"/>
          </a:xfrm>
          <a:prstGeom prst="roundRect">
            <a:avLst>
              <a:gd name="adj" fmla="val 49090"/>
            </a:avLst>
          </a:prstGeom>
          <a:solidFill>
            <a:srgbClr val="FFFFFF"/>
          </a:solidFill>
          <a:ln w="12700">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Giọng nói chỉ lưu vector số</a:t>
            </a:r>
          </a:p>
        </p:txBody>
      </p:sp>
      <p:sp>
        <p:nvSpPr>
          <p:cNvPr id="17" name="chip"/>
          <p:cNvSpPr/>
          <p:nvPr/>
        </p:nvSpPr>
        <p:spPr>
          <a:xfrm>
            <a:off x="6187287" y="5687568"/>
            <a:ext cx="2636443" cy="502920"/>
          </a:xfrm>
          <a:prstGeom prst="roundRect">
            <a:avLst>
              <a:gd name="adj" fmla="val 49090"/>
            </a:avLst>
          </a:prstGeom>
          <a:solidFill>
            <a:srgbClr val="FFFFFF"/>
          </a:solidFill>
          <a:ln w="12700">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Ghi âm cần mọi người đồng ý</a:t>
            </a:r>
          </a:p>
        </p:txBody>
      </p:sp>
      <p:sp>
        <p:nvSpPr>
          <p:cNvPr id="18" name="chip"/>
          <p:cNvSpPr/>
          <p:nvPr/>
        </p:nvSpPr>
        <p:spPr>
          <a:xfrm>
            <a:off x="9006611" y="5687568"/>
            <a:ext cx="2636443" cy="502920"/>
          </a:xfrm>
          <a:prstGeom prst="roundRect">
            <a:avLst>
              <a:gd name="adj" fmla="val 49090"/>
            </a:avLst>
          </a:prstGeom>
          <a:solidFill>
            <a:srgbClr val="FFFFFF"/>
          </a:solidFill>
          <a:ln w="12700">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Recall xóa bản ghi ngay</a:t>
            </a:r>
          </a:p>
        </p:txBody>
      </p:sp>
      <p:pic>
        <p:nvPicPr>
          <p:cNvPr id="19" name="logo" descr="logo-purple.png"/>
          <p:cNvPicPr>
            <a:picLocks noChangeAspect="1"/>
          </p:cNvPicPr>
          <p:nvPr/>
        </p:nvPicPr>
        <p:blipFill>
          <a:blip r:embed="rId4"/>
          <a:stretch>
            <a:fillRect/>
          </a:stretch>
        </p:blipFill>
        <p:spPr>
          <a:xfrm>
            <a:off x="548640" y="6382512"/>
            <a:ext cx="850392" cy="237744"/>
          </a:xfrm>
          <a:prstGeom prst="rect">
            <a:avLst/>
          </a:prstGeom>
        </p:spPr>
      </p:pic>
      <p:sp>
        <p:nvSpPr>
          <p:cNvPr id="20"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21"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p:nvPr/>
        </p:nvSpPr>
        <p:spPr>
          <a:xfrm>
            <a:off x="548640" y="384048"/>
            <a:ext cx="1638604" cy="329184"/>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200" b="1">
                <a:solidFill>
                  <a:srgbClr val="6821C2"/>
                </a:solidFill>
                <a:latin typeface="Be Vietnam Pro"/>
              </a:rPr>
              <a:t>Bước tiếp theo</a:t>
            </a:r>
          </a:p>
        </p:txBody>
      </p:sp>
      <p:sp>
        <p:nvSpPr>
          <p:cNvPr id="3" name="title"/>
          <p:cNvSpPr txBox="1"/>
          <p:nvPr/>
        </p:nvSpPr>
        <p:spPr>
          <a:xfrm>
            <a:off x="548640" y="786384"/>
            <a:ext cx="11094415" cy="640080"/>
          </a:xfrm>
          <a:prstGeom prst="rect">
            <a:avLst/>
          </a:prstGeom>
          <a:noFill/>
        </p:spPr>
        <p:txBody>
          <a:bodyPr wrap="square" lIns="0" rIns="0" tIns="0" bIns="0" anchor="t">
            <a:noAutofit/>
          </a:bodyPr>
          <a:lstStyle/>
          <a:p>
            <a:pPr algn="l">
              <a:lnSpc>
                <a:spcPct val="100000"/>
              </a:lnSpc>
              <a:spcAft>
                <a:spcPts val="0"/>
              </a:spcAft>
            </a:pPr>
            <a:r>
              <a:rPr sz="3200" b="1">
                <a:solidFill>
                  <a:srgbClr val="1F1B2E"/>
                </a:solidFill>
                <a:latin typeface="Be Vietnam Pro"/>
              </a:rPr>
              <a:t>Đề xuất triển khai và việc cần quyết định</a:t>
            </a:r>
          </a:p>
        </p:txBody>
      </p:sp>
      <p:sp>
        <p:nvSpPr>
          <p:cNvPr id="4" name="subtitle"/>
          <p:cNvSpPr txBox="1"/>
          <p:nvPr/>
        </p:nvSpPr>
        <p:spPr>
          <a:xfrm>
            <a:off x="548640" y="1426464"/>
            <a:ext cx="11094415" cy="457200"/>
          </a:xfrm>
          <a:prstGeom prst="rect">
            <a:avLst/>
          </a:prstGeom>
          <a:noFill/>
        </p:spPr>
        <p:txBody>
          <a:bodyPr wrap="square" lIns="0" rIns="0" tIns="0" bIns="0" anchor="t">
            <a:noAutofit/>
          </a:bodyPr>
          <a:lstStyle/>
          <a:p>
            <a:pPr algn="l">
              <a:lnSpc>
                <a:spcPct val="105000"/>
              </a:lnSpc>
              <a:spcAft>
                <a:spcPts val="0"/>
              </a:spcAft>
            </a:pPr>
            <a:r>
              <a:rPr sz="1600" b="0">
                <a:solidFill>
                  <a:srgbClr val="5F5A73"/>
                </a:solidFill>
                <a:latin typeface="Be Vietnam Pro"/>
              </a:rPr>
              <a:t>Thí điểm 2 tuần trước khi mở rộng</a:t>
            </a:r>
          </a:p>
        </p:txBody>
      </p:sp>
      <p:sp>
        <p:nvSpPr>
          <p:cNvPr id="5" name="row"/>
          <p:cNvSpPr/>
          <p:nvPr/>
        </p:nvSpPr>
        <p:spPr>
          <a:xfrm>
            <a:off x="548640" y="2103120"/>
            <a:ext cx="11094415" cy="694944"/>
          </a:xfrm>
          <a:prstGeom prst="roundRect">
            <a:avLst>
              <a:gd name="adj" fmla="val 23684"/>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adge"/>
          <p:cNvSpPr/>
          <p:nvPr/>
        </p:nvSpPr>
        <p:spPr>
          <a:xfrm>
            <a:off x="749808" y="2258568"/>
            <a:ext cx="384048" cy="384048"/>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1</a:t>
            </a:r>
          </a:p>
        </p:txBody>
      </p:sp>
      <p:sp>
        <p:nvSpPr>
          <p:cNvPr id="7" name="row-h"/>
          <p:cNvSpPr txBox="1"/>
          <p:nvPr/>
        </p:nvSpPr>
        <p:spPr>
          <a:xfrm>
            <a:off x="1325880" y="2103120"/>
            <a:ext cx="2743200" cy="694944"/>
          </a:xfrm>
          <a:prstGeom prst="rect">
            <a:avLst/>
          </a:prstGeom>
          <a:noFill/>
        </p:spPr>
        <p:txBody>
          <a:bodyPr wrap="square" lIns="0" rIns="0" tIns="0" bIns="0" anchor="ctr">
            <a:noAutofit/>
          </a:bodyPr>
          <a:lstStyle/>
          <a:p>
            <a:pPr algn="l">
              <a:lnSpc>
                <a:spcPct val="110000"/>
              </a:lnSpc>
              <a:spcAft>
                <a:spcPts val="0"/>
              </a:spcAft>
            </a:pPr>
            <a:r>
              <a:rPr sz="1550" b="1">
                <a:solidFill>
                  <a:srgbClr val="1F1B2E"/>
                </a:solidFill>
                <a:latin typeface="Be Vietnam Pro"/>
              </a:rPr>
              <a:t>Nạp credit Recall.ai</a:t>
            </a:r>
          </a:p>
        </p:txBody>
      </p:sp>
      <p:sp>
        <p:nvSpPr>
          <p:cNvPr id="8" name="row-t"/>
          <p:cNvSpPr txBox="1"/>
          <p:nvPr/>
        </p:nvSpPr>
        <p:spPr>
          <a:xfrm>
            <a:off x="4114800" y="2103120"/>
            <a:ext cx="5349240" cy="694944"/>
          </a:xfrm>
          <a:prstGeom prst="rect">
            <a:avLst/>
          </a:prstGeom>
          <a:noFill/>
        </p:spPr>
        <p:txBody>
          <a:bodyPr wrap="square" lIns="0" rIns="0" tIns="0" bIns="0" anchor="ctr">
            <a:noAutofit/>
          </a:bodyPr>
          <a:lstStyle/>
          <a:p>
            <a:pPr algn="l">
              <a:lnSpc>
                <a:spcPct val="100000"/>
              </a:lnSpc>
              <a:spcAft>
                <a:spcPts val="0"/>
              </a:spcAft>
            </a:pPr>
            <a:r>
              <a:rPr sz="1350" b="0">
                <a:solidFill>
                  <a:srgbClr val="5F5A73"/>
                </a:solidFill>
                <a:latin typeface="Be Vietnam Pro"/>
              </a:rPr>
              <a:t>Ngân sách tham khảo khoảng 1.000.000đ cho 80 giờ họp có bot mỗi tháng</a:t>
            </a:r>
          </a:p>
        </p:txBody>
      </p:sp>
      <p:sp>
        <p:nvSpPr>
          <p:cNvPr id="9" name="pill"/>
          <p:cNvSpPr/>
          <p:nvPr/>
        </p:nvSpPr>
        <p:spPr>
          <a:xfrm>
            <a:off x="9539935" y="2295144"/>
            <a:ext cx="1920240" cy="310896"/>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100" b="1">
                <a:solidFill>
                  <a:srgbClr val="6821C2"/>
                </a:solidFill>
                <a:latin typeface="Be Vietnam Pro"/>
              </a:rPr>
              <a:t>Quản trị viên, Tài chính</a:t>
            </a:r>
          </a:p>
        </p:txBody>
      </p:sp>
      <p:sp>
        <p:nvSpPr>
          <p:cNvPr id="10" name="row"/>
          <p:cNvSpPr/>
          <p:nvPr/>
        </p:nvSpPr>
        <p:spPr>
          <a:xfrm>
            <a:off x="548640" y="2907791"/>
            <a:ext cx="11094415" cy="694944"/>
          </a:xfrm>
          <a:prstGeom prst="roundRect">
            <a:avLst>
              <a:gd name="adj" fmla="val 23684"/>
            </a:avLst>
          </a:prstGeom>
          <a:solidFill>
            <a:srgbClr val="FFFFFF"/>
          </a:solidFill>
          <a:ln w="12700">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adge"/>
          <p:cNvSpPr/>
          <p:nvPr/>
        </p:nvSpPr>
        <p:spPr>
          <a:xfrm>
            <a:off x="749808" y="3063239"/>
            <a:ext cx="384048" cy="384048"/>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2</a:t>
            </a:r>
          </a:p>
        </p:txBody>
      </p:sp>
      <p:sp>
        <p:nvSpPr>
          <p:cNvPr id="12" name="row-h"/>
          <p:cNvSpPr txBox="1"/>
          <p:nvPr/>
        </p:nvSpPr>
        <p:spPr>
          <a:xfrm>
            <a:off x="1325880" y="2907791"/>
            <a:ext cx="2743200" cy="694944"/>
          </a:xfrm>
          <a:prstGeom prst="rect">
            <a:avLst/>
          </a:prstGeom>
          <a:noFill/>
        </p:spPr>
        <p:txBody>
          <a:bodyPr wrap="square" lIns="0" rIns="0" tIns="0" bIns="0" anchor="ctr">
            <a:noAutofit/>
          </a:bodyPr>
          <a:lstStyle/>
          <a:p>
            <a:pPr algn="l">
              <a:lnSpc>
                <a:spcPct val="110000"/>
              </a:lnSpc>
              <a:spcAft>
                <a:spcPts val="0"/>
              </a:spcAft>
            </a:pPr>
            <a:r>
              <a:rPr sz="1550" b="1">
                <a:solidFill>
                  <a:srgbClr val="1F1B2E"/>
                </a:solidFill>
                <a:latin typeface="Be Vietnam Pro"/>
              </a:rPr>
              <a:t>Kết nối WikiBox</a:t>
            </a:r>
          </a:p>
        </p:txBody>
      </p:sp>
      <p:sp>
        <p:nvSpPr>
          <p:cNvPr id="13" name="row-t"/>
          <p:cNvSpPr txBox="1"/>
          <p:nvPr/>
        </p:nvSpPr>
        <p:spPr>
          <a:xfrm>
            <a:off x="4114800" y="2907791"/>
            <a:ext cx="5349240" cy="694944"/>
          </a:xfrm>
          <a:prstGeom prst="rect">
            <a:avLst/>
          </a:prstGeom>
          <a:noFill/>
        </p:spPr>
        <p:txBody>
          <a:bodyPr wrap="square" lIns="0" rIns="0" tIns="0" bIns="0" anchor="ctr">
            <a:noAutofit/>
          </a:bodyPr>
          <a:lstStyle/>
          <a:p>
            <a:pPr algn="l">
              <a:lnSpc>
                <a:spcPct val="100000"/>
              </a:lnSpc>
              <a:spcAft>
                <a:spcPts val="0"/>
              </a:spcAft>
            </a:pPr>
            <a:r>
              <a:rPr sz="1350" b="0">
                <a:solidFill>
                  <a:srgbClr val="5F5A73"/>
                </a:solidFill>
                <a:latin typeface="Be Vietnam Pro"/>
              </a:rPr>
              <a:t>Mỗi người đăng nhập WikiBox bằng Google trong Cài đặt; chạy thử với tài liệu thật</a:t>
            </a:r>
          </a:p>
        </p:txBody>
      </p:sp>
      <p:sp>
        <p:nvSpPr>
          <p:cNvPr id="14" name="pill"/>
          <p:cNvSpPr/>
          <p:nvPr/>
        </p:nvSpPr>
        <p:spPr>
          <a:xfrm>
            <a:off x="9539935" y="3099815"/>
            <a:ext cx="1920240" cy="310896"/>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100" b="1">
                <a:solidFill>
                  <a:srgbClr val="6821C2"/>
                </a:solidFill>
                <a:latin typeface="Be Vietnam Pro"/>
              </a:rPr>
              <a:t>Từng người dùng</a:t>
            </a:r>
          </a:p>
        </p:txBody>
      </p:sp>
      <p:sp>
        <p:nvSpPr>
          <p:cNvPr id="15" name="row"/>
          <p:cNvSpPr/>
          <p:nvPr/>
        </p:nvSpPr>
        <p:spPr>
          <a:xfrm>
            <a:off x="548640" y="3712463"/>
            <a:ext cx="11094415" cy="694944"/>
          </a:xfrm>
          <a:prstGeom prst="roundRect">
            <a:avLst>
              <a:gd name="adj" fmla="val 23684"/>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adge"/>
          <p:cNvSpPr/>
          <p:nvPr/>
        </p:nvSpPr>
        <p:spPr>
          <a:xfrm>
            <a:off x="749808" y="3867911"/>
            <a:ext cx="384048" cy="384048"/>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3</a:t>
            </a:r>
          </a:p>
        </p:txBody>
      </p:sp>
      <p:sp>
        <p:nvSpPr>
          <p:cNvPr id="17" name="row-h"/>
          <p:cNvSpPr txBox="1"/>
          <p:nvPr/>
        </p:nvSpPr>
        <p:spPr>
          <a:xfrm>
            <a:off x="1325880" y="3712463"/>
            <a:ext cx="2743200" cy="694944"/>
          </a:xfrm>
          <a:prstGeom prst="rect">
            <a:avLst/>
          </a:prstGeom>
          <a:noFill/>
        </p:spPr>
        <p:txBody>
          <a:bodyPr wrap="square" lIns="0" rIns="0" tIns="0" bIns="0" anchor="ctr">
            <a:noAutofit/>
          </a:bodyPr>
          <a:lstStyle/>
          <a:p>
            <a:pPr algn="l">
              <a:lnSpc>
                <a:spcPct val="110000"/>
              </a:lnSpc>
              <a:spcAft>
                <a:spcPts val="0"/>
              </a:spcAft>
            </a:pPr>
            <a:r>
              <a:rPr sz="1550" b="1">
                <a:solidFill>
                  <a:srgbClr val="1F1B2E"/>
                </a:solidFill>
                <a:latin typeface="Be Vietnam Pro"/>
              </a:rPr>
              <a:t>Mỗi phòng ban một nhóm</a:t>
            </a:r>
          </a:p>
        </p:txBody>
      </p:sp>
      <p:sp>
        <p:nvSpPr>
          <p:cNvPr id="18" name="row-t"/>
          <p:cNvSpPr txBox="1"/>
          <p:nvPr/>
        </p:nvSpPr>
        <p:spPr>
          <a:xfrm>
            <a:off x="4114800" y="3712463"/>
            <a:ext cx="5349240" cy="694944"/>
          </a:xfrm>
          <a:prstGeom prst="rect">
            <a:avLst/>
          </a:prstGeom>
          <a:noFill/>
        </p:spPr>
        <p:txBody>
          <a:bodyPr wrap="square" lIns="0" rIns="0" tIns="0" bIns="0" anchor="ctr">
            <a:noAutofit/>
          </a:bodyPr>
          <a:lstStyle/>
          <a:p>
            <a:pPr algn="l">
              <a:lnSpc>
                <a:spcPct val="100000"/>
              </a:lnSpc>
              <a:spcAft>
                <a:spcPts val="0"/>
              </a:spcAft>
            </a:pPr>
            <a:r>
              <a:rPr sz="1350" b="0">
                <a:solidFill>
                  <a:srgbClr val="5F5A73"/>
                </a:solidFill>
                <a:latin typeface="Be Vietnam Pro"/>
              </a:rPr>
              <a:t>DH/LM làm chủ nhóm, thêm thành viên, chọn mẫu biên bản, tải tài liệu riêng</a:t>
            </a:r>
          </a:p>
        </p:txBody>
      </p:sp>
      <p:sp>
        <p:nvSpPr>
          <p:cNvPr id="19" name="pill"/>
          <p:cNvSpPr/>
          <p:nvPr/>
        </p:nvSpPr>
        <p:spPr>
          <a:xfrm>
            <a:off x="9539935" y="3904487"/>
            <a:ext cx="1920240" cy="310896"/>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100" b="1">
                <a:solidFill>
                  <a:srgbClr val="6821C2"/>
                </a:solidFill>
                <a:latin typeface="Be Vietnam Pro"/>
              </a:rPr>
              <a:t>DH/LM</a:t>
            </a:r>
          </a:p>
        </p:txBody>
      </p:sp>
      <p:sp>
        <p:nvSpPr>
          <p:cNvPr id="20" name="row"/>
          <p:cNvSpPr/>
          <p:nvPr/>
        </p:nvSpPr>
        <p:spPr>
          <a:xfrm>
            <a:off x="548640" y="4517136"/>
            <a:ext cx="11094415" cy="694944"/>
          </a:xfrm>
          <a:prstGeom prst="roundRect">
            <a:avLst>
              <a:gd name="adj" fmla="val 23684"/>
            </a:avLst>
          </a:prstGeom>
          <a:solidFill>
            <a:srgbClr val="FFFFFF"/>
          </a:solidFill>
          <a:ln w="12700">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adge"/>
          <p:cNvSpPr/>
          <p:nvPr/>
        </p:nvSpPr>
        <p:spPr>
          <a:xfrm>
            <a:off x="749808" y="4672583"/>
            <a:ext cx="384048" cy="384048"/>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4</a:t>
            </a:r>
          </a:p>
        </p:txBody>
      </p:sp>
      <p:sp>
        <p:nvSpPr>
          <p:cNvPr id="22" name="row-h"/>
          <p:cNvSpPr txBox="1"/>
          <p:nvPr/>
        </p:nvSpPr>
        <p:spPr>
          <a:xfrm>
            <a:off x="1325880" y="4517136"/>
            <a:ext cx="2743200" cy="694944"/>
          </a:xfrm>
          <a:prstGeom prst="rect">
            <a:avLst/>
          </a:prstGeom>
          <a:noFill/>
        </p:spPr>
        <p:txBody>
          <a:bodyPr wrap="square" lIns="0" rIns="0" tIns="0" bIns="0" anchor="ctr">
            <a:noAutofit/>
          </a:bodyPr>
          <a:lstStyle/>
          <a:p>
            <a:pPr algn="l">
              <a:lnSpc>
                <a:spcPct val="110000"/>
              </a:lnSpc>
              <a:spcAft>
                <a:spcPts val="0"/>
              </a:spcAft>
            </a:pPr>
            <a:r>
              <a:rPr sz="1550" b="1">
                <a:solidFill>
                  <a:srgbClr val="1F1B2E"/>
                </a:solidFill>
                <a:latin typeface="Be Vietnam Pro"/>
              </a:rPr>
              <a:t>Thí điểm 2 tuần</a:t>
            </a:r>
          </a:p>
        </p:txBody>
      </p:sp>
      <p:sp>
        <p:nvSpPr>
          <p:cNvPr id="23" name="row-t"/>
          <p:cNvSpPr txBox="1"/>
          <p:nvPr/>
        </p:nvSpPr>
        <p:spPr>
          <a:xfrm>
            <a:off x="4114800" y="4517136"/>
            <a:ext cx="5349240" cy="694944"/>
          </a:xfrm>
          <a:prstGeom prst="rect">
            <a:avLst/>
          </a:prstGeom>
          <a:noFill/>
        </p:spPr>
        <p:txBody>
          <a:bodyPr wrap="square" lIns="0" rIns="0" tIns="0" bIns="0" anchor="ctr">
            <a:noAutofit/>
          </a:bodyPr>
          <a:lstStyle/>
          <a:p>
            <a:pPr algn="l">
              <a:lnSpc>
                <a:spcPct val="100000"/>
              </a:lnSpc>
              <a:spcAft>
                <a:spcPts val="0"/>
              </a:spcAft>
            </a:pPr>
            <a:r>
              <a:rPr sz="1350" b="0">
                <a:solidFill>
                  <a:srgbClr val="5F5A73"/>
                </a:solidFill>
                <a:latin typeface="Be Vietnam Pro"/>
              </a:rPr>
              <a:t>2-3 phòng ban (ví dụ BD, Engineering); đo số cuộc họp, thời gian có biên bản, số gợi ý dùng được</a:t>
            </a:r>
          </a:p>
        </p:txBody>
      </p:sp>
      <p:sp>
        <p:nvSpPr>
          <p:cNvPr id="24" name="pill"/>
          <p:cNvSpPr/>
          <p:nvPr/>
        </p:nvSpPr>
        <p:spPr>
          <a:xfrm>
            <a:off x="9539935" y="4709159"/>
            <a:ext cx="1920240" cy="310896"/>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100" b="1">
                <a:solidFill>
                  <a:srgbClr val="6821C2"/>
                </a:solidFill>
                <a:latin typeface="Be Vietnam Pro"/>
              </a:rPr>
              <a:t>Phụ trách dự án</a:t>
            </a:r>
          </a:p>
        </p:txBody>
      </p:sp>
      <p:sp>
        <p:nvSpPr>
          <p:cNvPr id="25" name="row"/>
          <p:cNvSpPr/>
          <p:nvPr/>
        </p:nvSpPr>
        <p:spPr>
          <a:xfrm>
            <a:off x="548640" y="5321808"/>
            <a:ext cx="11094415" cy="694944"/>
          </a:xfrm>
          <a:prstGeom prst="roundRect">
            <a:avLst>
              <a:gd name="adj" fmla="val 23684"/>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adge"/>
          <p:cNvSpPr/>
          <p:nvPr/>
        </p:nvSpPr>
        <p:spPr>
          <a:xfrm>
            <a:off x="749808" y="5477256"/>
            <a:ext cx="384048" cy="384048"/>
          </a:xfrm>
          <a:prstGeom prst="ellipse">
            <a:avLst/>
          </a:prstGeom>
          <a:solidFill>
            <a:srgbClr val="FFB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400" b="1">
                <a:solidFill>
                  <a:srgbClr val="1F1B2E"/>
                </a:solidFill>
                <a:latin typeface="Be Vietnam Pro"/>
              </a:rPr>
              <a:t>5</a:t>
            </a:r>
          </a:p>
        </p:txBody>
      </p:sp>
      <p:sp>
        <p:nvSpPr>
          <p:cNvPr id="27" name="row-h"/>
          <p:cNvSpPr txBox="1"/>
          <p:nvPr/>
        </p:nvSpPr>
        <p:spPr>
          <a:xfrm>
            <a:off x="1325880" y="5321808"/>
            <a:ext cx="2743200" cy="694944"/>
          </a:xfrm>
          <a:prstGeom prst="rect">
            <a:avLst/>
          </a:prstGeom>
          <a:noFill/>
        </p:spPr>
        <p:txBody>
          <a:bodyPr wrap="square" lIns="0" rIns="0" tIns="0" bIns="0" anchor="ctr">
            <a:noAutofit/>
          </a:bodyPr>
          <a:lstStyle/>
          <a:p>
            <a:pPr algn="l">
              <a:lnSpc>
                <a:spcPct val="110000"/>
              </a:lnSpc>
              <a:spcAft>
                <a:spcPts val="0"/>
              </a:spcAft>
            </a:pPr>
            <a:r>
              <a:rPr sz="1550" b="1">
                <a:solidFill>
                  <a:srgbClr val="1F1B2E"/>
                </a:solidFill>
                <a:latin typeface="Be Vietnam Pro"/>
              </a:rPr>
              <a:t>Phát triển tiếp</a:t>
            </a:r>
          </a:p>
        </p:txBody>
      </p:sp>
      <p:sp>
        <p:nvSpPr>
          <p:cNvPr id="28" name="row-t"/>
          <p:cNvSpPr txBox="1"/>
          <p:nvPr/>
        </p:nvSpPr>
        <p:spPr>
          <a:xfrm>
            <a:off x="4114800" y="5321808"/>
            <a:ext cx="5349240" cy="694944"/>
          </a:xfrm>
          <a:prstGeom prst="rect">
            <a:avLst/>
          </a:prstGeom>
          <a:noFill/>
        </p:spPr>
        <p:txBody>
          <a:bodyPr wrap="square" lIns="0" rIns="0" tIns="0" bIns="0" anchor="ctr">
            <a:noAutofit/>
          </a:bodyPr>
          <a:lstStyle/>
          <a:p>
            <a:pPr algn="l">
              <a:lnSpc>
                <a:spcPct val="100000"/>
              </a:lnSpc>
              <a:spcAft>
                <a:spcPts val="0"/>
              </a:spcAft>
            </a:pPr>
            <a:r>
              <a:rPr sz="1350" b="0">
                <a:solidFill>
                  <a:srgbClr val="5F5A73"/>
                </a:solidFill>
                <a:latin typeface="Be Vietnam Pro"/>
              </a:rPr>
              <a:t>Mở "Hỏi trên mọi cuộc họp" cho mọi nhóm; xử lý các trường hợp hiếm có 2 bot</a:t>
            </a:r>
          </a:p>
        </p:txBody>
      </p:sp>
      <p:sp>
        <p:nvSpPr>
          <p:cNvPr id="29" name="pill"/>
          <p:cNvSpPr/>
          <p:nvPr/>
        </p:nvSpPr>
        <p:spPr>
          <a:xfrm>
            <a:off x="9539935" y="5513832"/>
            <a:ext cx="1920240" cy="310896"/>
          </a:xfrm>
          <a:prstGeom prst="roundRect">
            <a:avLst>
              <a:gd name="adj" fmla="val 50000"/>
            </a:avLst>
          </a:prstGeom>
          <a:solidFill>
            <a:srgbClr val="EFE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noAutofit/>
          </a:bodyPr>
          <a:lstStyle/>
          <a:p>
            <a:pPr algn="ctr">
              <a:lnSpc>
                <a:spcPct val="110000"/>
              </a:lnSpc>
              <a:spcAft>
                <a:spcPts val="0"/>
              </a:spcAft>
            </a:pPr>
            <a:r>
              <a:rPr sz="1100" b="1">
                <a:solidFill>
                  <a:srgbClr val="6821C2"/>
                </a:solidFill>
                <a:latin typeface="Be Vietnam Pro"/>
              </a:rPr>
              <a:t>Đội phát triển</a:t>
            </a:r>
          </a:p>
        </p:txBody>
      </p:sp>
      <p:pic>
        <p:nvPicPr>
          <p:cNvPr id="30" name="logo" descr="logo-purple.png"/>
          <p:cNvPicPr>
            <a:picLocks noChangeAspect="1"/>
          </p:cNvPicPr>
          <p:nvPr/>
        </p:nvPicPr>
        <p:blipFill>
          <a:blip r:embed="rId2"/>
          <a:stretch>
            <a:fillRect/>
          </a:stretch>
        </p:blipFill>
        <p:spPr>
          <a:xfrm>
            <a:off x="548640" y="6382512"/>
            <a:ext cx="850392" cy="237744"/>
          </a:xfrm>
          <a:prstGeom prst="rect">
            <a:avLst/>
          </a:prstGeom>
        </p:spPr>
      </p:pic>
      <p:sp>
        <p:nvSpPr>
          <p:cNvPr id="31" name="footer"/>
          <p:cNvSpPr txBox="1"/>
          <p:nvPr/>
        </p:nvSpPr>
        <p:spPr>
          <a:xfrm>
            <a:off x="1554480" y="6373368"/>
            <a:ext cx="5486400" cy="274320"/>
          </a:xfrm>
          <a:prstGeom prst="rect">
            <a:avLst/>
          </a:prstGeom>
          <a:noFill/>
        </p:spPr>
        <p:txBody>
          <a:bodyPr wrap="square" lIns="0" rIns="0" tIns="0" bIns="0" anchor="ctr">
            <a:noAutofit/>
          </a:bodyPr>
          <a:lstStyle/>
          <a:p>
            <a:pPr algn="l">
              <a:lnSpc>
                <a:spcPct val="110000"/>
              </a:lnSpc>
              <a:spcAft>
                <a:spcPts val="0"/>
              </a:spcAft>
            </a:pPr>
            <a:r>
              <a:rPr sz="1000" b="0">
                <a:solidFill>
                  <a:srgbClr val="5F5A73"/>
                </a:solidFill>
                <a:latin typeface="Be Vietnam Pro"/>
              </a:rPr>
              <a:t>Meeting Copilot · 19/10/2026</a:t>
            </a:r>
          </a:p>
        </p:txBody>
      </p:sp>
      <p:sp>
        <p:nvSpPr>
          <p:cNvPr id="32" name="page"/>
          <p:cNvSpPr txBox="1"/>
          <p:nvPr/>
        </p:nvSpPr>
        <p:spPr>
          <a:xfrm>
            <a:off x="10545775" y="6373368"/>
            <a:ext cx="1097280" cy="274320"/>
          </a:xfrm>
          <a:prstGeom prst="rect">
            <a:avLst/>
          </a:prstGeom>
          <a:noFill/>
        </p:spPr>
        <p:txBody>
          <a:bodyPr wrap="square" lIns="0" rIns="0" tIns="0" bIns="0" anchor="ctr">
            <a:noAutofit/>
          </a:bodyPr>
          <a:lstStyle/>
          <a:p>
            <a:pPr algn="r">
              <a:lnSpc>
                <a:spcPct val="110000"/>
              </a:lnSpc>
              <a:spcAft>
                <a:spcPts val="0"/>
              </a:spcAft>
            </a:pPr>
            <a:r>
              <a:rPr sz="1000" b="0">
                <a:solidFill>
                  <a:srgbClr val="5F5A73"/>
                </a:solidFill>
                <a:latin typeface="Be Vietnam Pro"/>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descr="cover-bg.jpg"/>
          <p:cNvPicPr>
            <a:picLocks noChangeAspect="1"/>
          </p:cNvPicPr>
          <p:nvPr/>
        </p:nvPicPr>
        <p:blipFill>
          <a:blip r:embed="rId2"/>
          <a:stretch>
            <a:fillRect/>
          </a:stretch>
        </p:blipFill>
        <p:spPr>
          <a:xfrm>
            <a:off x="0" y="0"/>
            <a:ext cx="12191695" cy="6858000"/>
          </a:xfrm>
          <a:prstGeom prst="rect">
            <a:avLst/>
          </a:prstGeom>
        </p:spPr>
      </p:pic>
      <p:pic>
        <p:nvPicPr>
          <p:cNvPr id="3" name="logo" descr="logo-white.png"/>
          <p:cNvPicPr>
            <a:picLocks noChangeAspect="1"/>
          </p:cNvPicPr>
          <p:nvPr/>
        </p:nvPicPr>
        <p:blipFill>
          <a:blip r:embed="rId3"/>
          <a:stretch>
            <a:fillRect/>
          </a:stretch>
        </p:blipFill>
        <p:spPr>
          <a:xfrm>
            <a:off x="731520" y="548640"/>
            <a:ext cx="1188720" cy="332841"/>
          </a:xfrm>
          <a:prstGeom prst="rect">
            <a:avLst/>
          </a:prstGeom>
        </p:spPr>
      </p:pic>
      <p:sp>
        <p:nvSpPr>
          <p:cNvPr id="4" name="title"/>
          <p:cNvSpPr txBox="1"/>
          <p:nvPr/>
        </p:nvSpPr>
        <p:spPr>
          <a:xfrm>
            <a:off x="731520" y="1828800"/>
            <a:ext cx="6858000" cy="914400"/>
          </a:xfrm>
          <a:prstGeom prst="rect">
            <a:avLst/>
          </a:prstGeom>
          <a:noFill/>
        </p:spPr>
        <p:txBody>
          <a:bodyPr wrap="square" lIns="0" rIns="0" tIns="0" bIns="0" anchor="t">
            <a:noAutofit/>
          </a:bodyPr>
          <a:lstStyle/>
          <a:p>
            <a:pPr algn="l">
              <a:lnSpc>
                <a:spcPct val="100000"/>
              </a:lnSpc>
              <a:spcAft>
                <a:spcPts val="0"/>
              </a:spcAft>
            </a:pPr>
            <a:r>
              <a:rPr sz="4800" b="1">
                <a:solidFill>
                  <a:srgbClr val="FFFFFF"/>
                </a:solidFill>
                <a:latin typeface="Be Vietnam Pro"/>
              </a:rPr>
              <a:t>Cảm ơn anh chị</a:t>
            </a:r>
          </a:p>
        </p:txBody>
      </p:sp>
      <p:sp>
        <p:nvSpPr>
          <p:cNvPr id="5" name="subtitle"/>
          <p:cNvSpPr txBox="1"/>
          <p:nvPr/>
        </p:nvSpPr>
        <p:spPr>
          <a:xfrm>
            <a:off x="731520" y="2788920"/>
            <a:ext cx="6858000" cy="548640"/>
          </a:xfrm>
          <a:prstGeom prst="rect">
            <a:avLst/>
          </a:prstGeom>
          <a:noFill/>
        </p:spPr>
        <p:txBody>
          <a:bodyPr wrap="square" lIns="0" rIns="0" tIns="0" bIns="0" anchor="t">
            <a:noAutofit/>
          </a:bodyPr>
          <a:lstStyle/>
          <a:p>
            <a:pPr algn="l">
              <a:lnSpc>
                <a:spcPct val="110000"/>
              </a:lnSpc>
              <a:spcAft>
                <a:spcPts val="0"/>
              </a:spcAft>
            </a:pPr>
            <a:r>
              <a:rPr sz="2600" b="1">
                <a:solidFill>
                  <a:srgbClr val="FFB700"/>
                </a:solidFill>
                <a:latin typeface="Be Vietnam Pro"/>
              </a:rPr>
              <a:t>Hỏi đáp</a:t>
            </a:r>
          </a:p>
        </p:txBody>
      </p:sp>
      <p:sp>
        <p:nvSpPr>
          <p:cNvPr id="6" name="info"/>
          <p:cNvSpPr txBox="1"/>
          <p:nvPr/>
        </p:nvSpPr>
        <p:spPr>
          <a:xfrm>
            <a:off x="731520" y="3703320"/>
            <a:ext cx="6949440" cy="1737360"/>
          </a:xfrm>
          <a:prstGeom prst="rect">
            <a:avLst/>
          </a:prstGeom>
          <a:noFill/>
        </p:spPr>
        <p:txBody>
          <a:bodyPr wrap="square" lIns="0" rIns="0" tIns="0" bIns="0" anchor="t">
            <a:noAutofit/>
          </a:bodyPr>
          <a:lstStyle/>
          <a:p>
            <a:pPr algn="l">
              <a:lnSpc>
                <a:spcPct val="110000"/>
              </a:lnSpc>
              <a:spcAft>
                <a:spcPts val="600"/>
              </a:spcAft>
            </a:pPr>
            <a:r>
              <a:rPr sz="1500" b="0">
                <a:solidFill>
                  <a:srgbClr val="E9DDFB"/>
                </a:solidFill>
                <a:latin typeface="Be Vietnam Pro"/>
              </a:rPr>
              <a:t>Ứng dụng: urbox-meeting-api.onrender.com (đăng nhập @urbox.vn)</a:t>
            </a:r>
          </a:p>
          <a:p>
            <a:pPr algn="l">
              <a:lnSpc>
                <a:spcPct val="110000"/>
              </a:lnSpc>
              <a:spcAft>
                <a:spcPts val="600"/>
              </a:spcAft>
            </a:pPr>
            <a:r>
              <a:rPr sz="1500" b="0">
                <a:solidFill>
                  <a:srgbClr val="E9DDFB"/>
                </a:solidFill>
                <a:latin typeface="Be Vietnam Pro"/>
              </a:rPr>
              <a:t>Hướng dẫn: mục 10.6 (bot Meet dùng chung), mục 13.4 (WikiBox)</a:t>
            </a:r>
          </a:p>
          <a:p>
            <a:pPr algn="l">
              <a:lnSpc>
                <a:spcPct val="110000"/>
              </a:lnSpc>
              <a:spcAft>
                <a:spcPts val="600"/>
              </a:spcAft>
            </a:pPr>
            <a:r>
              <a:rPr sz="1500" b="0">
                <a:solidFill>
                  <a:srgbClr val="E9DDFB"/>
                </a:solidFill>
                <a:latin typeface="Be Vietnam Pro"/>
              </a:rPr>
              <a:t>Phụ trách: phuc.bh@urbox.vn</a:t>
            </a:r>
          </a:p>
        </p:txBody>
      </p:sp>
      <p:sp>
        <p:nvSpPr>
          <p:cNvPr id="7" name="halo"/>
          <p:cNvSpPr/>
          <p:nvPr/>
        </p:nvSpPr>
        <p:spPr>
          <a:xfrm>
            <a:off x="8001000" y="1234440"/>
            <a:ext cx="3566160" cy="3566160"/>
          </a:xfrm>
          <a:prstGeom prst="ellipse">
            <a:avLst/>
          </a:prstGeom>
          <a:solidFill>
            <a:srgbClr val="7A3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mascot" descr="mascot.png"/>
          <p:cNvPicPr>
            <a:picLocks noChangeAspect="1"/>
          </p:cNvPicPr>
          <p:nvPr/>
        </p:nvPicPr>
        <p:blipFill>
          <a:blip r:embed="rId4"/>
          <a:stretch>
            <a:fillRect/>
          </a:stretch>
        </p:blipFill>
        <p:spPr>
          <a:xfrm>
            <a:off x="8458200" y="1691640"/>
            <a:ext cx="2651760" cy="25877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UrBox Meeting Copilot</dc:title>
  <dc:subject>Trình bày nội bộ 19/10/2026: khác biệt, WikiBox, DH/LM, Recall.ai, lưu trữ</dc:subject>
  <dc:creator>phuc.bh@urbox.vn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